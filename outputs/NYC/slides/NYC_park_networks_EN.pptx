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 i="0">
                <a:solidFill>
                  <a:srgbClr val="1F2933"/>
                </a:solidFill>
                <a:latin typeface="Calibri"/>
              </a:rPr>
              <a:t>grouped park pairs that distance alone (D) also groups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grouped park pairs that distance alone (D) also groups</c:v>
                </c:pt>
              </c:strCache>
            </c:strRef>
          </c:tx>
          <c:spPr>
            <a:solidFill>
              <a:srgbClr val="2C5F2D"/>
            </a:solidFill>
          </c:spPr>
          <c:cat>
            <c:strRef>
              <c:f>Sheet1!$A$2:$A$4</c:f>
              <c:strCache>
                <c:ptCount val="3"/>
                <c:pt idx="0">
                  <c:v>N1 few turns</c:v>
                </c:pt>
                <c:pt idx="1">
                  <c:v>N2 same axis</c:v>
                </c:pt>
                <c:pt idx="2">
                  <c:v>N3 walking zone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0.5904977375565611</c:v>
                </c:pt>
                <c:pt idx="1">
                  <c:v>0.6420634920634921</c:v>
                </c:pt>
                <c:pt idx="2">
                  <c:v>0.5094339622641509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4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3E6E1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 i="0">
                <a:solidFill>
                  <a:srgbClr val="1F2933"/>
                </a:solidFill>
                <a:latin typeface="Calibri"/>
              </a:rPr>
              <a:t>Isolated under all three definitions (121 parks)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Isolated under all three definitions (121 parks)</c:v>
                </c:pt>
              </c:strCache>
            </c:strRef>
          </c:tx>
          <c:spPr>
            <a:solidFill>
              <a:srgbClr val="C0392B"/>
            </a:solidFill>
          </c:spPr>
          <c:cat>
            <c:strRef>
              <c:f>Sheet1!$A$2:$A$6</c:f>
              <c:strCache>
                <c:ptCount val="5"/>
                <c:pt idx="0">
                  <c:v>Manhattan</c:v>
                </c:pt>
                <c:pt idx="1">
                  <c:v>Bronx</c:v>
                </c:pt>
                <c:pt idx="2">
                  <c:v>Brooklyn</c:v>
                </c:pt>
                <c:pt idx="3">
                  <c:v>Queens</c:v>
                </c:pt>
                <c:pt idx="4">
                  <c:v>Staten Island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8</c:v>
                </c:pt>
                <c:pt idx="2">
                  <c:v>13</c:v>
                </c:pt>
                <c:pt idx="3">
                  <c:v>52</c:v>
                </c:pt>
                <c:pt idx="4">
                  <c:v>35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C5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 i="0">
                <a:solidFill>
                  <a:srgbClr val="1F2933"/>
                </a:solidFill>
                <a:latin typeface="Calibri"/>
              </a:rPr>
              <a:t>N1: largest connected component (share of a borough's parks, max over boroughs)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 = 800 m</c:v>
                </c:pt>
              </c:strCache>
            </c:strRef>
          </c:tx>
          <c:spPr>
            <a:ln w="34925">
              <a:solidFill>
                <a:srgbClr val="97BC62"/>
              </a:solidFill>
            </a:ln>
          </c:spPr>
          <c:marker>
            <c:symbol val="circle"/>
            <c:size val="8"/>
            <c:spPr>
              <a:solidFill>
                <a:srgbClr val="97BC62"/>
              </a:solidFill>
              <a:ln>
                <a:solidFill>
                  <a:srgbClr val="97BC62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15°</c:v>
                </c:pt>
                <c:pt idx="1">
                  <c:v>45°</c:v>
                </c:pt>
                <c:pt idx="2">
                  <c:v>90°</c:v>
                </c:pt>
                <c:pt idx="3">
                  <c:v>180°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0.2915717539863325</c:v>
                </c:pt>
                <c:pt idx="1">
                  <c:v>0.357630979498861</c:v>
                </c:pt>
                <c:pt idx="2">
                  <c:v>0.6161879895561357</c:v>
                </c:pt>
                <c:pt idx="3">
                  <c:v>0.9453302961275628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 = 1600 m</c:v>
                </c:pt>
              </c:strCache>
            </c:strRef>
          </c:tx>
          <c:spPr>
            <a:ln w="34925">
              <a:solidFill>
                <a:srgbClr val="2C5F2D"/>
              </a:solidFill>
            </a:ln>
          </c:spPr>
          <c:marker>
            <c:symbol val="circle"/>
            <c:size val="8"/>
            <c:spPr>
              <a:solidFill>
                <a:srgbClr val="2C5F2D"/>
              </a:solidFill>
              <a:ln>
                <a:solidFill>
                  <a:srgbClr val="2C5F2D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15°</c:v>
                </c:pt>
                <c:pt idx="1">
                  <c:v>45°</c:v>
                </c:pt>
                <c:pt idx="2">
                  <c:v>90°</c:v>
                </c:pt>
                <c:pt idx="3">
                  <c:v>180°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0.3052391799544419</c:v>
                </c:pt>
                <c:pt idx="1">
                  <c:v>0.6038647342995169</c:v>
                </c:pt>
                <c:pt idx="2">
                  <c:v>0.8610478359908884</c:v>
                </c:pt>
                <c:pt idx="3">
                  <c:v>0.964573268921095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 = 3200 m</c:v>
                </c:pt>
              </c:strCache>
            </c:strRef>
          </c:tx>
          <c:spPr>
            <a:ln w="34925">
              <a:solidFill>
                <a:srgbClr val="1B2E25"/>
              </a:solidFill>
            </a:ln>
          </c:spPr>
          <c:marker>
            <c:symbol val="circle"/>
            <c:size val="8"/>
            <c:spPr>
              <a:solidFill>
                <a:srgbClr val="1B2E25"/>
              </a:solidFill>
              <a:ln>
                <a:solidFill>
                  <a:srgbClr val="1B2E25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15°</c:v>
                </c:pt>
                <c:pt idx="1">
                  <c:v>45°</c:v>
                </c:pt>
                <c:pt idx="2">
                  <c:v>90°</c:v>
                </c:pt>
                <c:pt idx="3">
                  <c:v>180°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0.3052391799544419</c:v>
                </c:pt>
                <c:pt idx="1">
                  <c:v>0.8132118451025057</c:v>
                </c:pt>
                <c:pt idx="2">
                  <c:v>0.8724373576309795</c:v>
                </c:pt>
                <c:pt idx="3">
                  <c:v>0.9919484702093396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3E6E1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Within the search bound R (verdict)</c:v>
                </c:pt>
              </c:strCache>
            </c:strRef>
          </c:tx>
          <c:spPr>
            <a:solidFill>
              <a:srgbClr val="2C5F2D"/>
            </a:solidFill>
          </c:spPr>
          <c:cat>
            <c:strRef>
              <c:f>Sheet1!$A$2:$A$5</c:f>
              <c:strCache>
                <c:ptCount val="4"/>
                <c:pt idx="0">
                  <c:v>N1 few turns</c:v>
                </c:pt>
                <c:pt idx="1">
                  <c:v>N1rel (relative)</c:v>
                </c:pt>
                <c:pt idx="2">
                  <c:v>N2 same axis</c:v>
                </c:pt>
                <c:pt idx="3">
                  <c:v>N3 walking zone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0.77692641411823</c:v>
                </c:pt>
                <c:pt idx="1">
                  <c:v>0.5956936391552188</c:v>
                </c:pt>
                <c:pt idx="2">
                  <c:v>0.7373541617431105</c:v>
                </c:pt>
                <c:pt idx="3">
                  <c:v>0.729018732415785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All pairs ≤ 3.2 km</c:v>
                </c:pt>
              </c:strCache>
            </c:strRef>
          </c:tx>
          <c:spPr>
            <a:solidFill>
              <a:srgbClr val="C9D6C2"/>
            </a:solidFill>
          </c:spPr>
          <c:cat>
            <c:strRef>
              <c:f>Sheet1!$A$2:$A$5</c:f>
              <c:strCache>
                <c:ptCount val="4"/>
                <c:pt idx="0">
                  <c:v>N1 few turns</c:v>
                </c:pt>
                <c:pt idx="1">
                  <c:v>N1rel (relative)</c:v>
                </c:pt>
                <c:pt idx="2">
                  <c:v>N2 same axis</c:v>
                </c:pt>
                <c:pt idx="3">
                  <c:v>N3 walking zone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0.944083812051425</c:v>
                </c:pt>
                <c:pt idx="1">
                  <c:v>0.5956936391552188</c:v>
                </c:pt>
                <c:pt idx="2">
                  <c:v>0.9774435936254148</c:v>
                </c:pt>
                <c:pt idx="3">
                  <c:v>0.8537234049895721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5"/>
        </c:scaling>
        <c:delete val="0"/>
        <c:axPos val="l"/>
        <c:majorGridlines>
          <c:spPr>
            <a:ln>
              <a:solidFill>
                <a:srgbClr val="E3E6E1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Space-Syntax-inspired analysis of NYC parks with Cityseer. Map colours = few-turn (N1)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Contrast: proximity vs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One-page summary of the four definitions (D, N1, N2, N3); formal versions are in the appendix.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sources and filters.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Angular (simplest-path) cost explained.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Boundary-based attachment, no entrance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 links parks whose shortest walking distance is ≤ 200/400/800 m; same grouping procedure as the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N1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N2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N3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Walking-distance safeguard.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 of grouped pairs also grouped by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Isolated under N1, N2 and N3.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Outputs: outputs/NYC/clusters (network commercial areas), outputs/NYC/controls (street and context controls), outputs/NYC/analysis (park and cluster tables). Straight-line 100 m buffers are kept for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E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88720"/>
            <a:ext cx="61264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How Are New York's Parks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Connected by Streets?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520440"/>
            <a:ext cx="5760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97BC62"/>
                </a:solidFill>
                <a:latin typeface="Calibri"/>
              </a:rPr>
              <a:t>Grouping 1,902 small and medium parks by the shape of the walking network — not just by distance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0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B8C7B5"/>
                </a:solidFill>
                <a:latin typeface="Calibri"/>
              </a:rPr>
              <a:t>NYC Parks properties · OpenStreetMap walking network · Cityseer 5.8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B8C7B5"/>
                </a:solidFill>
                <a:latin typeface="Calibri"/>
              </a:rPr>
              <a:t>October 2026</a:t>
            </a:r>
          </a:p>
        </p:txBody>
      </p:sp>
      <p:pic>
        <p:nvPicPr>
          <p:cNvPr id="5" name="Picture 4" descr="titl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795829"/>
            <a:ext cx="5029200" cy="52663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F2933"/>
                </a:solidFill>
                <a:latin typeface="Cambria"/>
              </a:rPr>
              <a:t>Close is not the same as connected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5F6B73"/>
                </a:solidFill>
                <a:latin typeface="Calibri"/>
              </a:rPr>
              <a:t>Why: next, we test whether connected groups of parks go with more shops and visits nearby.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48463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10000"/>
              </a:lnSpc>
              <a:spcAft>
                <a:spcPts val="11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We usually ask how far apart two parks are. But people pick routes that are easy to follow.</a:t>
            </a:r>
          </a:p>
          <a:p>
            <a:pPr algn="l" marL="228600" indent="-228600">
              <a:lnSpc>
                <a:spcPct val="110000"/>
              </a:lnSpc>
              <a:spcAft>
                <a:spcPts val="11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A route with few turns feels simple — like walking along one straight avenue.</a:t>
            </a:r>
          </a:p>
          <a:p>
            <a:pPr algn="l" marL="228600" indent="-228600">
              <a:lnSpc>
                <a:spcPct val="110000"/>
              </a:lnSpc>
              <a:spcAft>
                <a:spcPts val="11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So we ask: which parks are linked by the street layout itself?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892040"/>
            <a:ext cx="4846320" cy="1234440"/>
          </a:xfrm>
          <a:prstGeom prst="roundRect">
            <a:avLst>
              <a:gd name="adj" fmla="val 6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4480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1">
                <a:solidFill>
                  <a:srgbClr val="5F6B73"/>
                </a:solidFill>
                <a:latin typeface="Calibri"/>
              </a:rPr>
              <a:t>This idea comes from Space Syntax, a field that studies how the shape of streets guides where people walk.</a:t>
            </a:r>
          </a:p>
        </p:txBody>
      </p:sp>
      <p:pic>
        <p:nvPicPr>
          <p:cNvPr id="7" name="Picture 6" descr="close_vs_conn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716161"/>
            <a:ext cx="6035040" cy="26941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0" y="470916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Close on the map — but you must walk around a barrier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470916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Farther apart — but one straight street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F2933"/>
                </a:solidFill>
                <a:latin typeface="Cambria"/>
              </a:rPr>
              <a:t>Four ways two parks can be “connected”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2633472" cy="4389120"/>
          </a:xfrm>
          <a:prstGeom prst="roundRect">
            <a:avLst>
              <a:gd name="adj" fmla="val 6000"/>
            </a:avLst>
          </a:prstGeom>
          <a:solidFill>
            <a:srgbClr val="F3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f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29" y="1325880"/>
            <a:ext cx="1741092" cy="192024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13232" y="3337560"/>
            <a:ext cx="457200" cy="457200"/>
          </a:xfrm>
          <a:prstGeom prst="ellipse">
            <a:avLst/>
          </a:prstGeom>
          <a:solidFill>
            <a:srgbClr val="5F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3383280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1" i="0">
                <a:solidFill>
                  <a:srgbClr val="5F6B73"/>
                </a:solidFill>
                <a:latin typeface="Calibri"/>
              </a:rPr>
              <a:t>Short walk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13632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1F2933"/>
                </a:solidFill>
                <a:latin typeface="Calibri"/>
              </a:rPr>
              <a:t>The two parks are only a few minutes' walk apart along real streets (200–800 m).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1091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 i="1">
                <a:solidFill>
                  <a:srgbClr val="E07A3F"/>
                </a:solidFill>
                <a:latin typeface="Calibri"/>
              </a:rPr>
              <a:t>The usual “nearby” — our baseline.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234440"/>
            <a:ext cx="2633472" cy="4389120"/>
          </a:xfrm>
          <a:prstGeom prst="roundRect">
            <a:avLst>
              <a:gd name="adj" fmla="val 6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ef_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046" y="1325880"/>
            <a:ext cx="1797075" cy="1920239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3520440" y="3337560"/>
            <a:ext cx="457200" cy="4572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3383280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1" i="0">
                <a:solidFill>
                  <a:srgbClr val="2C5F2D"/>
                </a:solidFill>
                <a:latin typeface="Calibri"/>
              </a:rPr>
              <a:t>Few turns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3913632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1F2933"/>
                </a:solidFill>
                <a:latin typeface="Calibri"/>
              </a:rPr>
              <a:t>You can walk from one park to the other while turning very little.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501091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 i="1">
                <a:solidFill>
                  <a:srgbClr val="E07A3F"/>
                </a:solidFill>
                <a:latin typeface="Calibri"/>
              </a:rPr>
              <a:t>Directions that say: “just go straight.”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5" y="1234440"/>
            <a:ext cx="2633472" cy="4389120"/>
          </a:xfrm>
          <a:prstGeom prst="roundRect">
            <a:avLst>
              <a:gd name="adj" fmla="val 6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ef_N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862" y="1325880"/>
            <a:ext cx="1855858" cy="1920239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6327647" y="3337560"/>
            <a:ext cx="457200" cy="4572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3383280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1" i="0">
                <a:solidFill>
                  <a:srgbClr val="2C5F2D"/>
                </a:solidFill>
                <a:latin typeface="Calibri"/>
              </a:rPr>
              <a:t>Same street axis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913632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1F2933"/>
                </a:solidFill>
                <a:latin typeface="Calibri"/>
              </a:rPr>
              <a:t>Both parks sit along one continuous street you can follow without switching streets.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501091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 i="1">
                <a:solidFill>
                  <a:srgbClr val="E07A3F"/>
                </a:solidFill>
                <a:latin typeface="Calibri"/>
              </a:rPr>
              <a:t>Two shops on the same avenue.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0263" y="1234440"/>
            <a:ext cx="2633472" cy="4389120"/>
          </a:xfrm>
          <a:prstGeom prst="roundRect">
            <a:avLst>
              <a:gd name="adj" fmla="val 6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ef_N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1325880"/>
            <a:ext cx="1920240" cy="1920240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9134855" y="3337560"/>
            <a:ext cx="457200" cy="4572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83495" y="3383280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1" i="0">
                <a:solidFill>
                  <a:srgbClr val="2C5F2D"/>
                </a:solidFill>
                <a:latin typeface="Calibri"/>
              </a:rPr>
              <a:t>Shared walking zone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3" y="3913632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1F2933"/>
                </a:solidFill>
                <a:latin typeface="Calibri"/>
              </a:rPr>
              <a:t>The streets reached by walking (almost) straight from each park overlap more than distance explains.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3" y="501091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 i="1">
                <a:solidFill>
                  <a:srgbClr val="E07A3F"/>
                </a:solidFill>
                <a:latin typeface="Calibri"/>
              </a:rPr>
              <a:t>Two schools whose students use the same streets.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760720"/>
            <a:ext cx="11064240" cy="64008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760720"/>
            <a:ext cx="10607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For all four: every park in a group must be within a 10-minute walk (800 m) of every other park in that group.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F2933"/>
                </a:solidFill>
                <a:latin typeface="Cambria"/>
              </a:rPr>
              <a:t>What we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4754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800" b="1" i="0">
                <a:solidFill>
                  <a:srgbClr val="2C5F2D"/>
                </a:solidFill>
                <a:latin typeface="Cambria"/>
              </a:rPr>
              <a:t>1,902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02536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5F6B73"/>
                </a:solidFill>
                <a:latin typeface="Calibri"/>
              </a:rPr>
              <a:t>small &amp; medium parks — we left out huge parks such as Central Park, and lots that are not real parks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4754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800" b="1" i="0">
                <a:solidFill>
                  <a:srgbClr val="2C5F2D"/>
                </a:solidFill>
                <a:latin typeface="Cambria"/>
              </a:rPr>
              <a:t>496k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02736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5F6B73"/>
                </a:solidFill>
                <a:latin typeface="Calibri"/>
              </a:rPr>
              <a:t>walkable streets and paths from OpenStreetMap, the free “Wikipedia of maps”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26280"/>
            <a:ext cx="4754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800" b="1" i="0">
                <a:solidFill>
                  <a:srgbClr val="2C5F2D"/>
                </a:solidFill>
                <a:latin typeface="Cambria"/>
              </a:rPr>
              <a:t>25 → 180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02936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5F6B73"/>
                </a:solidFill>
                <a:latin typeface="Calibri"/>
              </a:rPr>
              <a:t>very long parks (e.g. parkway medians) cut into ~400 m pieces, so one park cannot link places kilometres apart</a:t>
            </a:r>
          </a:p>
        </p:txBody>
      </p:sp>
      <p:pic>
        <p:nvPicPr>
          <p:cNvPr id="9" name="Picture 8" descr="network_p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033" y="1234440"/>
            <a:ext cx="4841292" cy="48463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0" y="612648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5F6B73"/>
                </a:solidFill>
                <a:latin typeface="Calibri"/>
              </a:rPr>
              <a:t>Walking network (lines) and parks (green) around Fort Greene, Brooklyn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F2933"/>
                </a:solidFill>
                <a:latin typeface="Cambria"/>
              </a:rPr>
              <a:t>Counting how much a route turns</a:t>
            </a:r>
          </a:p>
        </p:txBody>
      </p:sp>
      <p:pic>
        <p:nvPicPr>
          <p:cNvPr id="3" name="Picture 2" descr="turn_ic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8425"/>
            <a:ext cx="5120640" cy="16408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200400"/>
            <a:ext cx="51206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10000"/>
              </a:lnSpc>
              <a:spcAft>
                <a:spcPts val="9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Going straight = 0°. Turning a corner ≈ 90°.</a:t>
            </a:r>
          </a:p>
          <a:p>
            <a:pPr algn="l" marL="228600" indent="-228600">
              <a:lnSpc>
                <a:spcPct val="110000"/>
              </a:lnSpc>
              <a:spcAft>
                <a:spcPts val="9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Between two parks we find the route that turns the least (not the shortest one) and add up its turns.</a:t>
            </a:r>
          </a:p>
          <a:p>
            <a:pPr algn="l" marL="228600" indent="-228600">
              <a:lnSpc>
                <a:spcPct val="110000"/>
              </a:lnSpc>
              <a:spcAft>
                <a:spcPts val="9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Map: from one park, dark-blue streets are reached by going straight, light blue with one turn, orange with two.</a:t>
            </a:r>
          </a:p>
          <a:p>
            <a:pPr algn="l" marL="228600" indent="-228600">
              <a:lnSpc>
                <a:spcPct val="110000"/>
              </a:lnSpc>
              <a:spcAft>
                <a:spcPts val="9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Computed with Cityseer, an open-source tool for analysing street networks.</a:t>
            </a:r>
          </a:p>
        </p:txBody>
      </p:sp>
      <p:pic>
        <p:nvPicPr>
          <p:cNvPr id="5" name="Picture 4" descr="angular_f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300927"/>
            <a:ext cx="5852160" cy="51705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F2933"/>
                </a:solidFill>
                <a:latin typeface="Cambria"/>
              </a:rPr>
              <a:t>Where does a park meet the street?</a:t>
            </a:r>
          </a:p>
        </p:txBody>
      </p:sp>
      <p:pic>
        <p:nvPicPr>
          <p:cNvPr id="3" name="Picture 2" descr="attach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901" y="1234440"/>
            <a:ext cx="4964997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9360" y="1645920"/>
            <a:ext cx="530352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10000"/>
              </a:lnSpc>
              <a:spcAft>
                <a:spcPts val="1600"/>
              </a:spcAft>
              <a:buFont typeface="Arial"/>
              <a:buChar char="•"/>
            </a:pPr>
            <a:r>
              <a:rPr sz="1700" b="0" i="0">
                <a:solidFill>
                  <a:srgbClr val="1F2933"/>
                </a:solidFill>
                <a:latin typeface="Calibri"/>
              </a:rPr>
              <a:t>We don't know where each park's entrances are.</a:t>
            </a:r>
          </a:p>
          <a:p>
            <a:pPr algn="l" marL="228600" indent="-228600">
              <a:lnSpc>
                <a:spcPct val="110000"/>
              </a:lnSpc>
              <a:spcAft>
                <a:spcPts val="1600"/>
              </a:spcAft>
              <a:buFont typeface="Arial"/>
              <a:buChar char="•"/>
            </a:pPr>
            <a:r>
              <a:rPr sz="1700" b="0" i="0">
                <a:solidFill>
                  <a:srgbClr val="1F2933"/>
                </a:solidFill>
                <a:latin typeface="Calibri"/>
              </a:rPr>
              <a:t>So we treat the streets running along the park's edges (orange) as its doors.</a:t>
            </a:r>
          </a:p>
          <a:p>
            <a:pPr algn="l" marL="228600" indent="-228600">
              <a:lnSpc>
                <a:spcPct val="110000"/>
              </a:lnSpc>
              <a:spcAft>
                <a:spcPts val="1600"/>
              </a:spcAft>
              <a:buFont typeface="Arial"/>
              <a:buChar char="•"/>
            </a:pPr>
            <a:r>
              <a:rPr sz="1700" b="0" i="0">
                <a:solidFill>
                  <a:srgbClr val="1F2933"/>
                </a:solidFill>
                <a:latin typeface="Calibri"/>
              </a:rPr>
              <a:t>Big parks have many edge streets, so we start from at most 8 spread-out ones (black). This keeps big parks from getting an unfair advantage.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F2933"/>
                </a:solidFill>
                <a:latin typeface="Cambria"/>
              </a:rPr>
              <a:t>D · Parks within a short walk (baseline)</a:t>
            </a:r>
          </a:p>
        </p:txBody>
      </p:sp>
      <p:pic>
        <p:nvPicPr>
          <p:cNvPr id="3" name="Picture 2" descr="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58390"/>
            <a:ext cx="4480559" cy="4689858"/>
          </a:xfrm>
          <a:prstGeom prst="rect">
            <a:avLst/>
          </a:prstGeom>
        </p:spPr>
      </p:pic>
      <p:pic>
        <p:nvPicPr>
          <p:cNvPr id="4" name="Picture 3" descr="D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14653"/>
            <a:ext cx="4846320" cy="47773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0" y="1234440"/>
            <a:ext cx="21488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5F6B73"/>
                </a:solidFill>
                <a:latin typeface="Cambria"/>
              </a:rPr>
              <a:t>349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911095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5F6B73"/>
                </a:solidFill>
                <a:latin typeface="Calibri"/>
              </a:rPr>
              <a:t>groups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2496312"/>
            <a:ext cx="21488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5F6B73"/>
                </a:solidFill>
                <a:latin typeface="Cambria"/>
              </a:rPr>
              <a:t>1,274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3172968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5F6B73"/>
                </a:solidFill>
                <a:latin typeface="Calibri"/>
              </a:rPr>
              <a:t>parks in a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3758183"/>
            <a:ext cx="21488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5F6B73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44348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5F6B73"/>
                </a:solidFill>
                <a:latin typeface="Calibri"/>
              </a:rPr>
              <a:t>parks in a typical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5020056"/>
            <a:ext cx="21488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C0392B"/>
                </a:solidFill>
                <a:latin typeface="Cambria"/>
              </a:rPr>
              <a:t>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5696712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5F6B73"/>
                </a:solidFill>
                <a:latin typeface="Calibri"/>
              </a:rPr>
              <a:t>parks with no other park nearby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5F6B73"/>
                </a:solidFill>
                <a:latin typeface="Calibri"/>
              </a:rPr>
              <a:t>Each colour is one group. This is pure proximity — the other three definitions are compared against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F2933"/>
                </a:solidFill>
                <a:latin typeface="Cambria"/>
              </a:rPr>
              <a:t>N1 · Parks linked by few-turn routes</a:t>
            </a:r>
          </a:p>
        </p:txBody>
      </p:sp>
      <p:pic>
        <p:nvPicPr>
          <p:cNvPr id="3" name="Picture 2" descr="N1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58390"/>
            <a:ext cx="4480559" cy="4689858"/>
          </a:xfrm>
          <a:prstGeom prst="rect">
            <a:avLst/>
          </a:prstGeom>
        </p:spPr>
      </p:pic>
      <p:pic>
        <p:nvPicPr>
          <p:cNvPr id="4" name="Picture 3" descr="N1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10341"/>
            <a:ext cx="4846320" cy="47859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0" y="1234440"/>
            <a:ext cx="21488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2C5F2D"/>
                </a:solidFill>
                <a:latin typeface="Cambria"/>
              </a:rPr>
              <a:t>340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911095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5F6B73"/>
                </a:solidFill>
                <a:latin typeface="Calibri"/>
              </a:rPr>
              <a:t>walkable groups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2496312"/>
            <a:ext cx="21488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2C5F2D"/>
                </a:solidFill>
                <a:latin typeface="Cambria"/>
              </a:rPr>
              <a:t>1,178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3172968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5F6B73"/>
                </a:solidFill>
                <a:latin typeface="Calibri"/>
              </a:rPr>
              <a:t>parks in a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3758183"/>
            <a:ext cx="21488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2C5F2D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44348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5F6B73"/>
                </a:solidFill>
                <a:latin typeface="Calibri"/>
              </a:rPr>
              <a:t>parks in a typical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5020056"/>
            <a:ext cx="21488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C0392B"/>
                </a:solidFill>
                <a:latin typeface="Cambria"/>
              </a:rPr>
              <a:t>132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5696712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5F6B73"/>
                </a:solidFill>
                <a:latin typeface="Calibri"/>
              </a:rPr>
              <a:t>parks with no few-turn partner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5F6B73"/>
                </a:solidFill>
                <a:latin typeface="Calibri"/>
              </a:rPr>
              <a:t>Each colour is one group. Orange lines: few-turn links within a 10-minute walk.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F2933"/>
                </a:solidFill>
                <a:latin typeface="Cambria"/>
              </a:rPr>
              <a:t>N2 · Parks along the same street axis</a:t>
            </a:r>
          </a:p>
        </p:txBody>
      </p:sp>
      <p:pic>
        <p:nvPicPr>
          <p:cNvPr id="3" name="Picture 2" descr="N2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95550"/>
            <a:ext cx="4480559" cy="4689858"/>
          </a:xfrm>
          <a:prstGeom prst="rect">
            <a:avLst/>
          </a:prstGeom>
        </p:spPr>
      </p:pic>
      <p:pic>
        <p:nvPicPr>
          <p:cNvPr id="4" name="Picture 3" descr="N2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14653"/>
            <a:ext cx="4846320" cy="47773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0" y="1234440"/>
            <a:ext cx="21488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2C5F2D"/>
                </a:solidFill>
                <a:latin typeface="Cambria"/>
              </a:rPr>
              <a:t>329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911095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5F6B73"/>
                </a:solidFill>
                <a:latin typeface="Calibri"/>
              </a:rPr>
              <a:t>groups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2560320"/>
            <a:ext cx="21488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2C5F2D"/>
                </a:solidFill>
                <a:latin typeface="Cambria"/>
              </a:rPr>
              <a:t>1,212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3236976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5F6B73"/>
                </a:solidFill>
                <a:latin typeface="Calibri"/>
              </a:rPr>
              <a:t>parks in a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4023360"/>
            <a:ext cx="21488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50" b="0" i="0">
                <a:solidFill>
                  <a:srgbClr val="5F6B73"/>
                </a:solidFill>
                <a:latin typeface="Calibri"/>
              </a:rPr>
              <a:t>“Street axis” = one continuous street you can follow without switching streets (direction change &lt; 30° at each junction).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50" b="0" i="0">
                <a:solidFill>
                  <a:srgbClr val="5F6B73"/>
                </a:solidFill>
                <a:latin typeface="Calibri"/>
              </a:rPr>
              <a:t>46% of N2 groups touch a main street (top 5% of through-walking) — kept as a group attribute.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F2933"/>
                </a:solidFill>
                <a:latin typeface="Cambria"/>
              </a:rPr>
              <a:t>N3 · Parks sharing a walking zone</a:t>
            </a:r>
          </a:p>
        </p:txBody>
      </p:sp>
      <p:pic>
        <p:nvPicPr>
          <p:cNvPr id="3" name="Picture 2" descr="N3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95550"/>
            <a:ext cx="4480559" cy="4689858"/>
          </a:xfrm>
          <a:prstGeom prst="rect">
            <a:avLst/>
          </a:prstGeom>
        </p:spPr>
      </p:pic>
      <p:pic>
        <p:nvPicPr>
          <p:cNvPr id="4" name="Picture 3" descr="N3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14653"/>
            <a:ext cx="4846320" cy="47773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0" y="1234440"/>
            <a:ext cx="21488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2C5F2D"/>
                </a:solidFill>
                <a:latin typeface="Cambria"/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911095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5F6B73"/>
                </a:solidFill>
                <a:latin typeface="Calibri"/>
              </a:rPr>
              <a:t>groups (mostly pairs)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2560320"/>
            <a:ext cx="21488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2C5F2D"/>
                </a:solidFill>
                <a:latin typeface="Cambria"/>
              </a:rPr>
              <a:t>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3236976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5F6B73"/>
                </a:solidFill>
                <a:latin typeface="Calibri"/>
              </a:rPr>
              <a:t>parks in a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4023360"/>
            <a:ext cx="21488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50" b="0" i="0">
                <a:solidFill>
                  <a:srgbClr val="5F6B73"/>
                </a:solidFill>
                <a:latin typeface="Calibri"/>
              </a:rPr>
              <a:t>Rare: two parks' straight-walk zones seldom overlap more than their distance alone explains.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50" b="0" i="0">
                <a:solidFill>
                  <a:srgbClr val="5F6B73"/>
                </a:solidFill>
                <a:latin typeface="Calibri"/>
              </a:rPr>
              <a:t>N3 is a weak signal — useful mainly as a contrast to N1 and N2.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F2933"/>
                </a:solidFill>
                <a:latin typeface="Cambria"/>
              </a:rPr>
              <a:t>Groups must be walkable: the 10-minute rule</a:t>
            </a:r>
          </a:p>
        </p:txBody>
      </p:sp>
      <p:pic>
        <p:nvPicPr>
          <p:cNvPr id="3" name="Picture 2" descr="walk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79" y="1188720"/>
            <a:ext cx="539496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325880"/>
            <a:ext cx="5394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550" b="0" i="0">
                <a:solidFill>
                  <a:srgbClr val="1F2933"/>
                </a:solidFill>
                <a:latin typeface="Calibri"/>
              </a:rPr>
              <a:t>Street-shape links can chain parks across several kilometres.</a:t>
            </a:r>
          </a:p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550" b="0" i="0">
                <a:solidFill>
                  <a:srgbClr val="1F2933"/>
                </a:solidFill>
                <a:latin typeface="Calibri"/>
              </a:rPr>
              <a:t>So inside each group, every pair of parks must be within a 10-minute walk (800 m along real streets).</a:t>
            </a:r>
          </a:p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550" b="0" i="0">
                <a:solidFill>
                  <a:srgbClr val="1F2933"/>
                </a:solidFill>
                <a:latin typeface="Calibri"/>
              </a:rPr>
              <a:t>Long groups are split; a park with nobody within 10 minutes leaves the group.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4160520"/>
          <a:ext cx="5394960" cy="1920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6000"/>
                <a:gridCol w="1554480"/>
                <a:gridCol w="1554480"/>
              </a:tblGrid>
              <a:tr h="384048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groups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largest group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1F2933"/>
                          </a:solidFill>
                          <a:latin typeface="Calibri"/>
                        </a:rPr>
                        <a:t>D short walk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281 → 349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29 → 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1F2933"/>
                          </a:solidFill>
                          <a:latin typeface="Calibri"/>
                        </a:rPr>
                        <a:t>N1 few turns</a:t>
                      </a:r>
                    </a:p>
                  </a:txBody>
                  <a:tcPr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217 → 340</a:t>
                      </a:r>
                    </a:p>
                  </a:txBody>
                  <a:tcPr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41 → 15</a:t>
                      </a:r>
                    </a:p>
                  </a:txBody>
                  <a:tcPr>
                    <a:solidFill>
                      <a:srgbClr val="EEF3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1F2933"/>
                          </a:solidFill>
                          <a:latin typeface="Calibri"/>
                        </a:rPr>
                        <a:t>N2 same axis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231 → 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32 → 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1F2933"/>
                          </a:solidFill>
                          <a:latin typeface="Calibri"/>
                        </a:rPr>
                        <a:t>N3 walking zone</a:t>
                      </a:r>
                    </a:p>
                  </a:txBody>
                  <a:tcPr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63 → 47</a:t>
                      </a:r>
                    </a:p>
                  </a:txBody>
                  <a:tcPr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8 → 8</a:t>
                      </a:r>
                    </a:p>
                  </a:txBody>
                  <a:tcPr>
                    <a:solidFill>
                      <a:srgbClr val="EEF3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F2933"/>
                </a:solidFill>
                <a:latin typeface="Cambria"/>
              </a:rPr>
              <a:t>Is this just about distance?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603504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0880" y="1463040"/>
            <a:ext cx="457200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sz="1550" b="0" i="0">
                <a:solidFill>
                  <a:srgbClr val="1F2933"/>
                </a:solidFill>
                <a:latin typeface="Calibri"/>
              </a:rPr>
              <a:t>We compare each definition with D, which groups parks by walking distance only.</a:t>
            </a:r>
          </a:p>
          <a:p>
            <a:pPr algn="l" marL="228600" indent="-22860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sz="1550" b="0" i="0">
                <a:solidFill>
                  <a:srgbClr val="1F2933"/>
                </a:solidFill>
                <a:latin typeface="Calibri"/>
              </a:rPr>
              <a:t>N1: 59% of its grouped pairs are also grouped by D — the other 41% come from street shape.</a:t>
            </a:r>
          </a:p>
          <a:p>
            <a:pPr algn="l" marL="228600" indent="-22860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sz="1550" b="0" i="0">
                <a:solidFill>
                  <a:srgbClr val="1F2933"/>
                </a:solidFill>
                <a:latin typeface="Calibri"/>
              </a:rPr>
              <a:t>N2: 64% · N3: 51%.</a:t>
            </a:r>
          </a:p>
          <a:p>
            <a:pPr algn="l" marL="228600" indent="-22860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sz="1550" b="0" i="0">
                <a:solidFill>
                  <a:srgbClr val="1F2933"/>
                </a:solidFill>
                <a:latin typeface="Calibri"/>
              </a:rPr>
              <a:t>So street shape changes which nearby parks belong together.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F2933"/>
                </a:solidFill>
                <a:latin typeface="Cambria"/>
              </a:rPr>
              <a:t>Parks left alone</a:t>
            </a:r>
          </a:p>
        </p:txBody>
      </p:sp>
      <p:pic>
        <p:nvPicPr>
          <p:cNvPr id="3" name="Picture 2" descr="cross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47694"/>
            <a:ext cx="4572000" cy="4785571"/>
          </a:xfrm>
          <a:prstGeom prst="rect">
            <a:avLst/>
          </a:prstGeom>
        </p:spPr>
      </p:pic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303520" y="1234440"/>
          <a:ext cx="630936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03520" y="4480560"/>
            <a:ext cx="6309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1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Mostly in Staten Island and Queens, where streets curve and dead-end.</a:t>
            </a:r>
          </a:p>
          <a:p>
            <a:pPr algn="l" marL="228600" indent="-228600">
              <a:lnSpc>
                <a:spcPct val="11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Also parks squeezed next to highways or along the waterfront.</a:t>
            </a:r>
          </a:p>
          <a:p>
            <a:pPr algn="l" marL="228600" indent="-228600">
              <a:lnSpc>
                <a:spcPct val="11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They sit outside the walkable “park network” — worth a look for planning.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F2933"/>
                </a:solidFill>
                <a:latin typeface="Cambria"/>
              </a:rPr>
              <a:t>Next step: parks and commercial activity</a:t>
            </a:r>
          </a:p>
        </p:txBody>
      </p:sp>
      <p:pic>
        <p:nvPicPr>
          <p:cNvPr id="3" name="Picture 2" descr="r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27" y="1188720"/>
            <a:ext cx="5472865" cy="53949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371600"/>
            <a:ext cx="53949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Every park belongs to one cluster per definition (a single park counts as its own cluster).</a:t>
            </a:r>
          </a:p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A cluster's commercial area = the streets within 100 m of its parks, measured along the walking network.</a:t>
            </a:r>
          </a:p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A shop near two parks counts once, for the park that is closer on foot.</a:t>
            </a:r>
          </a:p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Next: count shops, business variety and visits in each area (Advan POIs) and compare clusters across D, N1, N2 and N3, controlling for park size, population, jobs and street accessibility.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4846320"/>
            <a:ext cx="5394960" cy="1280160"/>
          </a:xfrm>
          <a:prstGeom prst="roundRect">
            <a:avLst>
              <a:gd name="adj" fmla="val 6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4956048"/>
            <a:ext cx="50292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1" i="0">
                <a:solidFill>
                  <a:srgbClr val="2C5F2D"/>
                </a:solidFill>
                <a:latin typeface="Calibri"/>
              </a:rPr>
              <a:t>Ready now: park and cluster tables with street, population, income, jobs, land-use and subway controls.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E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243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691640"/>
            <a:ext cx="3017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Street shape matters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 i="0">
                <a:solidFill>
                  <a:srgbClr val="D6E2D0"/>
                </a:solidFill>
                <a:latin typeface="Calibri"/>
              </a:rPr>
              <a:t>Few-turn links form 340 walkable park groups across NYC; 132 parks have no few-turn partner.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5968" y="146304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243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691640"/>
            <a:ext cx="3017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Not just distance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 i="0">
                <a:solidFill>
                  <a:srgbClr val="D6E2D0"/>
                </a:solidFill>
                <a:latin typeface="Calibri"/>
              </a:rPr>
              <a:t>41% of few-turn group pairs are not grouped by walking distance alone.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3296" y="146304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243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39327" y="1691640"/>
            <a:ext cx="3017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Four lenses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 i="0">
                <a:solidFill>
                  <a:srgbClr val="D6E2D0"/>
                </a:solidFill>
                <a:latin typeface="Calibri"/>
              </a:rPr>
              <a:t>Distance, few turns, same street axis and shared zone give different groups — ready for the commercial analysis.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66344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243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 i="0">
                <a:solidFill>
                  <a:srgbClr val="97BC62"/>
                </a:solidFill>
                <a:latin typeface="Calibri"/>
              </a:rPr>
              <a:t>Next: measure shops and visits on the streets within 100 m of each cluster and run the regressions.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E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Appendix · Technical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D6E2D0"/>
                </a:solidFill>
                <a:latin typeface="Calibri"/>
              </a:rPr>
              <a:t>Pipeline and tools</a:t>
            </a:r>
          </a:p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D6E2D0"/>
                </a:solidFill>
                <a:latin typeface="Calibri"/>
              </a:rPr>
              <a:t>Network representation and park attachment</a:t>
            </a:r>
          </a:p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D6E2D0"/>
                </a:solidFill>
                <a:latin typeface="Calibri"/>
              </a:rPr>
              <a:t>Angular cost on the dual graph</a:t>
            </a:r>
          </a:p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D6E2D0"/>
                </a:solidFill>
                <a:latin typeface="Calibri"/>
              </a:rPr>
              <a:t>D, N1, N2, N3: formal definitions and parameters</a:t>
            </a:r>
          </a:p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D6E2D0"/>
                </a:solidFill>
                <a:latin typeface="Calibri"/>
              </a:rPr>
              <a:t>From park graphs to groups (percolation)</a:t>
            </a:r>
          </a:p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D6E2D0"/>
                </a:solidFill>
                <a:latin typeface="Calibri"/>
              </a:rPr>
              <a:t>Proximity check</a:t>
            </a:r>
          </a:p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D6E2D0"/>
                </a:solidFill>
                <a:latin typeface="Calibri"/>
              </a:rPr>
              <a:t>Limitations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F2933"/>
                </a:solidFill>
                <a:latin typeface="Cambria"/>
              </a:rPr>
              <a:t>Pipeline and tools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1627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 i="0">
                <a:solidFill>
                  <a:srgbClr val="2C5F2D"/>
                </a:solidFill>
                <a:latin typeface="Calibri"/>
              </a:rPr>
              <a:t>OSM pedestrian network (C / S)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212848" y="1847088"/>
            <a:ext cx="192024" cy="228600"/>
          </a:xfrm>
          <a:prstGeom prst="rightArrow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41448" y="1417320"/>
            <a:ext cx="1627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 i="0">
                <a:solidFill>
                  <a:srgbClr val="2C5F2D"/>
                </a:solidFill>
                <a:latin typeface="Calibri"/>
              </a:rPr>
              <a:t>Cityseer dual graph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05656" y="1847088"/>
            <a:ext cx="192024" cy="228600"/>
          </a:xfrm>
          <a:prstGeom prst="rightArrow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34255" y="1417320"/>
            <a:ext cx="1627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 i="0">
                <a:solidFill>
                  <a:srgbClr val="2C5F2D"/>
                </a:solidFill>
                <a:latin typeface="Calibri"/>
              </a:rPr>
              <a:t>Park attachment (no entrances)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98464" y="1847088"/>
            <a:ext cx="192024" cy="228600"/>
          </a:xfrm>
          <a:prstGeom prst="rightArrow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27063" y="1417320"/>
            <a:ext cx="1627632" cy="109728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Angular relations &amp; centrality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891271" y="1847088"/>
            <a:ext cx="192024" cy="228600"/>
          </a:xfrm>
          <a:prstGeom prst="rightArrow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19871" y="1417320"/>
            <a:ext cx="1627632" cy="109728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Park graphs N1 · N2 · N3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784079" y="1847088"/>
            <a:ext cx="192024" cy="228600"/>
          </a:xfrm>
          <a:prstGeom prst="rightArrow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12680" y="1417320"/>
            <a:ext cx="1627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 i="0">
                <a:solidFill>
                  <a:srgbClr val="2C5F2D"/>
                </a:solidFill>
                <a:latin typeface="Calibri"/>
              </a:rPr>
              <a:t>Persistence, consensus &amp; 10-min 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26080"/>
            <a:ext cx="110642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sz="1450" b="0" i="0">
                <a:solidFill>
                  <a:srgbClr val="1F2933"/>
                </a:solidFill>
                <a:latin typeface="Calibri"/>
              </a:rPr>
              <a:t>Parks: NYC Parks properties (2,061) → flagship parks, non-park parcels and parks &gt; 100 acres removed → 1,902 parks; 25 long linear parks split into 180 pieces (2,057 graph nodes)</a:t>
            </a:r>
          </a:p>
          <a:p>
            <a:pPr algn="l" marL="228600" indent="-22860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sz="1450" b="0" i="0">
                <a:solidFill>
                  <a:srgbClr val="1F2933"/>
                </a:solidFill>
                <a:latin typeface="Calibri"/>
              </a:rPr>
              <a:t>Network: OSM via OSMnx with a custom walk filter (keeps streets tagged sidewalk=separate), NYC + 3.2 km buffer; borough networks with 3.2 km non-reporting buffers</a:t>
            </a:r>
          </a:p>
          <a:p>
            <a:pPr algn="l" marL="228600" indent="-22860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sz="1450" b="0" i="0">
                <a:solidFill>
                  <a:srgbClr val="1F2933"/>
                </a:solidFill>
                <a:latin typeface="Calibri"/>
              </a:rPr>
              <a:t>Software: Cityseer 5.8 (dual graph, simplest/shortest-path Dijkstra, angular centrality), NetworkX (graphs, Louvain), GeoPandas/Shapely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F2933"/>
                </a:solidFill>
                <a:latin typeface="Cambria"/>
              </a:rPr>
              <a:t>Network representation and park attachment</a:t>
            </a:r>
          </a:p>
        </p:txBody>
      </p:sp>
      <p:pic>
        <p:nvPicPr>
          <p:cNvPr id="3" name="Picture 2" descr="network_S_vs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9083"/>
            <a:ext cx="6949440" cy="37397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280160"/>
            <a:ext cx="411480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300" b="0" i="0">
                <a:solidFill>
                  <a:srgbClr val="1F2933"/>
                </a:solidFill>
                <a:latin typeface="Calibri"/>
              </a:rPr>
              <a:t>S draws sidewalks and crossings separately: parks facing each other across a street are ~180° apart.</a:t>
            </a:r>
          </a:p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300" b="0" i="0">
                <a:solidFill>
                  <a:srgbClr val="1F2933"/>
                </a:solidFill>
                <a:latin typeface="Calibri"/>
              </a:rPr>
              <a:t>C (street centrelines + pedestrian-only paths) behaves like a Space Syntax segment map → main analysis; S = sensitivity.</a:t>
            </a:r>
          </a:p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300" b="0" i="0">
                <a:solidFill>
                  <a:srgbClr val="1F2933"/>
                </a:solidFill>
                <a:latin typeface="Calibri"/>
              </a:rPr>
              <a:t>Attachment: segments within ±20 m of the boundary whose in-band length ≥ 50% of the segment or ≥ min(2.5·d, 25% of perimeter)</a:t>
            </a:r>
          </a:p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300" b="0" i="0">
                <a:solidFill>
                  <a:srgbClr val="1F2933"/>
                </a:solidFill>
                <a:latin typeface="Calibri"/>
              </a:rPr>
              <a:t>K = 8 sources by farthest-point sampling; “unresolved” if attached only to components &lt; 200 segments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F2933"/>
                </a:solidFill>
                <a:latin typeface="Cambria"/>
              </a:rPr>
              <a:t>Angular cost on the dual graph</a:t>
            </a:r>
          </a:p>
        </p:txBody>
      </p:sp>
      <p:pic>
        <p:nvPicPr>
          <p:cNvPr id="3" name="Picture 2" descr="concept_ang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03558"/>
            <a:ext cx="11064240" cy="286216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4617720"/>
            <a:ext cx="11064240" cy="1600200"/>
          </a:xfrm>
          <a:prstGeom prst="roundRect">
            <a:avLst>
              <a:gd name="adj" fmla="val 6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75488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1" i="0">
                <a:solidFill>
                  <a:srgbClr val="2C5F2D"/>
                </a:solidFill>
                <a:latin typeface="Calibri"/>
              </a:rPr>
              <a:t>Simplest path  </a:t>
            </a:r>
            <a:r>
              <a:rPr sz="1350" b="0" i="0">
                <a:solidFill>
                  <a:srgbClr val="1F2933"/>
                </a:solidFill>
                <a:latin typeface="Calibri"/>
              </a:rPr>
              <a:t>Cityseer routes on the dual graph (street segments = nodes) and minimises the cumulative change of direction in degrees, including bends inside segments.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1" i="0">
                <a:solidFill>
                  <a:srgbClr val="2C5F2D"/>
                </a:solidFill>
                <a:latin typeface="Calibri"/>
              </a:rPr>
              <a:t>Metric bound  </a:t>
            </a:r>
            <a:r>
              <a:rPr sz="1350" b="0" i="0">
                <a:solidFill>
                  <a:srgbClr val="1F2933"/>
                </a:solidFill>
                <a:latin typeface="Calibri"/>
              </a:rPr>
              <a:t>Each search runs up to 3.2 km; R ∈ {800, 1600, 3200} m filters the path length afterwards — distance bounds the search, it does not define the edge.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F2933"/>
                </a:solidFill>
                <a:latin typeface="Cambria"/>
              </a:rPr>
              <a:t>D · Walking distance (formal)</a:t>
            </a:r>
          </a:p>
        </p:txBody>
      </p:sp>
      <p:pic>
        <p:nvPicPr>
          <p:cNvPr id="3" name="Picture 2" descr="def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729" y="1371600"/>
            <a:ext cx="3813821" cy="42062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0" y="1371600"/>
            <a:ext cx="5943600" cy="1234440"/>
          </a:xfrm>
          <a:prstGeom prst="roundRect">
            <a:avLst>
              <a:gd name="adj" fmla="val 6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97880" y="1481328"/>
            <a:ext cx="54864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1F2933"/>
                </a:solidFill>
                <a:latin typeface="Calibri"/>
              </a:rPr>
              <a:t>edge  ⇔  </a:t>
            </a:r>
            <a:r>
              <a:rPr sz="1600" b="1" i="0">
                <a:solidFill>
                  <a:srgbClr val="1F2933"/>
                </a:solidFill>
                <a:latin typeface="Calibri"/>
              </a:rPr>
              <a:t>D</a:t>
            </a:r>
            <a:r>
              <a:rPr sz="1600" b="1" i="0" baseline="-25000">
                <a:solidFill>
                  <a:srgbClr val="1F2933"/>
                </a:solidFill>
                <a:latin typeface="Calibri"/>
              </a:rPr>
              <a:t>ij</a:t>
            </a:r>
            <a:r>
              <a:rPr sz="1600" b="1" i="0">
                <a:solidFill>
                  <a:srgbClr val="1F2933"/>
                </a:solidFill>
                <a:latin typeface="Calibri"/>
              </a:rPr>
              <a:t> ≤ d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F6B73"/>
                </a:solidFill>
                <a:latin typeface="Calibri"/>
              </a:rPr>
              <a:t>D = shortest walking distance between the two parks' attachment segments (Cityseer shortest-path trees)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2880360"/>
            <a:ext cx="59436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3 settings: d ∈ {200, 400, 800} m</a:t>
            </a:r>
          </a:p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Includes adjacent parks (shared frontage, touching polygons) — proximity itself</a:t>
            </a:r>
          </a:p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Same grouping procedure as N1–N3 (percolation filter, Louvain γ = 2, consensus, 10-min split): the proximity baseline for RQ3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F2933"/>
                </a:solidFill>
                <a:latin typeface="Cambria"/>
              </a:rPr>
              <a:t>N1 · Formal definition</a:t>
            </a:r>
          </a:p>
        </p:txBody>
      </p:sp>
      <p:pic>
        <p:nvPicPr>
          <p:cNvPr id="3" name="Picture 2" descr="concept_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08179"/>
            <a:ext cx="4937760" cy="506460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0" y="1325880"/>
            <a:ext cx="5943600" cy="1143000"/>
          </a:xfrm>
          <a:prstGeom prst="roundRect">
            <a:avLst>
              <a:gd name="adj" fmla="val 6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97880" y="1444752"/>
            <a:ext cx="5486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0" i="0">
                <a:solidFill>
                  <a:srgbClr val="1F2933"/>
                </a:solidFill>
                <a:latin typeface="Calibri"/>
              </a:rPr>
              <a:t>A</a:t>
            </a:r>
            <a:r>
              <a:rPr sz="1450" b="0" i="0" baseline="-25000">
                <a:solidFill>
                  <a:srgbClr val="1F2933"/>
                </a:solidFill>
                <a:latin typeface="Calibri"/>
              </a:rPr>
              <a:t>ij</a:t>
            </a:r>
            <a:r>
              <a:rPr sz="1450" b="0" i="0">
                <a:solidFill>
                  <a:srgbClr val="1F2933"/>
                </a:solidFill>
                <a:latin typeface="Calibri"/>
              </a:rPr>
              <a:t>(R) = min over source u ∈ </a:t>
            </a:r>
            <a:r>
              <a:rPr sz="1450" b="0" i="0">
                <a:solidFill>
                  <a:srgbClr val="1F2933"/>
                </a:solidFill>
                <a:latin typeface="Calibri"/>
              </a:rPr>
              <a:t>B</a:t>
            </a:r>
            <a:r>
              <a:rPr sz="1450" b="0" i="0" baseline="-25000">
                <a:solidFill>
                  <a:srgbClr val="1F2933"/>
                </a:solidFill>
                <a:latin typeface="Calibri"/>
              </a:rPr>
              <a:t>i</a:t>
            </a:r>
            <a:r>
              <a:rPr sz="1450" b="0" i="0">
                <a:solidFill>
                  <a:srgbClr val="1F2933"/>
                </a:solidFill>
                <a:latin typeface="Calibri"/>
              </a:rPr>
              <a:t>, target v ∈ </a:t>
            </a:r>
            <a:r>
              <a:rPr sz="1450" b="0" i="0">
                <a:solidFill>
                  <a:srgbClr val="1F2933"/>
                </a:solidFill>
                <a:latin typeface="Calibri"/>
              </a:rPr>
              <a:t>B</a:t>
            </a:r>
            <a:r>
              <a:rPr sz="1450" b="0" i="0" baseline="-25000">
                <a:solidFill>
                  <a:srgbClr val="1F2933"/>
                </a:solidFill>
                <a:latin typeface="Calibri"/>
              </a:rPr>
              <a:t>j</a:t>
            </a:r>
            <a:r>
              <a:rPr sz="1450" b="0" i="0">
                <a:solidFill>
                  <a:srgbClr val="1F2933"/>
                </a:solidFill>
                <a:latin typeface="Calibri"/>
              </a:rPr>
              <a:t> of angular cost(u → v),  path length ≤ 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 i="0">
                <a:solidFill>
                  <a:srgbClr val="1F2933"/>
                </a:solidFill>
                <a:latin typeface="Calibri"/>
              </a:rPr>
              <a:t>edge  ⇔  </a:t>
            </a:r>
            <a:r>
              <a:rPr sz="1450" b="1" i="0">
                <a:solidFill>
                  <a:srgbClr val="1F2933"/>
                </a:solidFill>
                <a:latin typeface="Calibri"/>
              </a:rPr>
              <a:t>A</a:t>
            </a:r>
            <a:r>
              <a:rPr sz="1450" b="1" i="0" baseline="-25000">
                <a:solidFill>
                  <a:srgbClr val="1F2933"/>
                </a:solidFill>
                <a:latin typeface="Calibri"/>
              </a:rPr>
              <a:t>ij</a:t>
            </a:r>
            <a:r>
              <a:rPr sz="1450" b="1" i="0">
                <a:solidFill>
                  <a:srgbClr val="1F2933"/>
                </a:solidFill>
                <a:latin typeface="Calibri"/>
              </a:rPr>
              <a:t> ≤ 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0" y="2697480"/>
          <a:ext cx="5943600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2926080"/>
                <a:gridCol w="21031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θ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edges from A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15°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same straight street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45°</a:t>
                      </a:r>
                    </a:p>
                  </a:txBody>
                  <a:tcPr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nearly straight</a:t>
                      </a:r>
                    </a:p>
                  </a:txBody>
                  <a:tcPr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EEF3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90°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one right-angle turn (strict)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B,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180°</a:t>
                      </a:r>
                    </a:p>
                  </a:txBody>
                  <a:tcPr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two turns</a:t>
                      </a:r>
                    </a:p>
                  </a:txBody>
                  <a:tcPr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B, C, D</a:t>
                      </a:r>
                    </a:p>
                  </a:txBody>
                  <a:tcPr>
                    <a:solidFill>
                      <a:srgbClr val="EEF3E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0" y="4754880"/>
            <a:ext cx="5943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10000"/>
              </a:lnSpc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5F6B73"/>
                </a:solidFill>
                <a:latin typeface="Calibri"/>
              </a:rPr>
              <a:t>24 settings: θ ∈ {15, 45, 90, 180}° × R ∈ {800, 1600, 3200} m × {best pair, ≥ 2 robust pairs}</a:t>
            </a:r>
          </a:p>
          <a:p>
            <a:pPr algn="l" marL="228600" indent="-228600">
              <a:lnSpc>
                <a:spcPct val="110000"/>
              </a:lnSpc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5F6B73"/>
                </a:solidFill>
                <a:latin typeface="Calibri"/>
              </a:rPr>
              <a:t>Groups: Louvain communities on the 9 non-percolating settings (weights exp(−A/45°)), consensus ≥ 0.5, then split to a 10-min walking diameter</a:t>
            </a:r>
          </a:p>
          <a:p>
            <a:pPr algn="l" marL="228600" indent="-228600">
              <a:lnSpc>
                <a:spcPct val="110000"/>
              </a:lnSpc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5F6B73"/>
                </a:solidFill>
                <a:latin typeface="Calibri"/>
              </a:rPr>
              <a:t>Measured one-turn routes cost ~90–100° (bends inside segments), so θ = 90° is strict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F2933"/>
                </a:solidFill>
                <a:latin typeface="Cambria"/>
              </a:rPr>
              <a:t>N2 · Street-axis continuity (formal)</a:t>
            </a:r>
          </a:p>
        </p:txBody>
      </p:sp>
      <p:pic>
        <p:nvPicPr>
          <p:cNvPr id="3" name="Picture 2" descr="concept_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43" y="1280160"/>
            <a:ext cx="5931273" cy="4937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583680" y="1325880"/>
            <a:ext cx="5029200" cy="1188720"/>
          </a:xfrm>
          <a:prstGeom prst="roundRect">
            <a:avLst>
              <a:gd name="adj" fmla="val 6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12280" y="1444752"/>
            <a:ext cx="4663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1F2933"/>
                </a:solidFill>
                <a:latin typeface="Calibri"/>
              </a:rPr>
              <a:t>edge  ⇔  same stroke and </a:t>
            </a:r>
            <a:r>
              <a:rPr sz="1600" b="1" i="0">
                <a:solidFill>
                  <a:srgbClr val="1F2933"/>
                </a:solidFill>
                <a:latin typeface="Calibri"/>
              </a:rPr>
              <a:t>gap</a:t>
            </a:r>
            <a:r>
              <a:rPr sz="1600" b="1" i="0" baseline="-25000">
                <a:solidFill>
                  <a:srgbClr val="1F2933"/>
                </a:solidFill>
                <a:latin typeface="Calibri"/>
              </a:rPr>
              <a:t>along</a:t>
            </a:r>
            <a:r>
              <a:rPr sz="1600" b="1" i="0">
                <a:solidFill>
                  <a:srgbClr val="1F2933"/>
                </a:solidFill>
                <a:latin typeface="Calibri"/>
              </a:rPr>
              <a:t> ≤ lim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F6B73"/>
                </a:solidFill>
                <a:latin typeface="Calibri"/>
              </a:rPr>
              <a:t>stroke = segments chained where the direction changes &lt; 30° at a junction (20°, 45° also tested)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743200"/>
            <a:ext cx="50292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10000"/>
              </a:lnSpc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1F2933"/>
                </a:solidFill>
                <a:latin typeface="Calibri"/>
              </a:rPr>
              <a:t>Gap: distance along the stroke between the two parks' attachment intervals (0 if they overlap)</a:t>
            </a:r>
          </a:p>
          <a:p>
            <a:pPr algn="l" marL="228600" indent="-228600">
              <a:lnSpc>
                <a:spcPct val="110000"/>
              </a:lnSpc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1F2933"/>
                </a:solidFill>
                <a:latin typeface="Calibri"/>
              </a:rPr>
              <a:t>9 settings: stroke angle ∈ {20, 30, 45}° × lim ∈ {400, 800, 1600} m; E0 pairs excluded; network C</a:t>
            </a:r>
          </a:p>
          <a:p>
            <a:pPr algn="l" marL="228600" indent="-228600">
              <a:lnSpc>
                <a:spcPct val="110000"/>
              </a:lnSpc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1F2933"/>
                </a:solidFill>
                <a:latin typeface="Calibri"/>
              </a:rPr>
              <a:t>Main street = stroke in the top 5% / 10% of network length by mean NACH-1600,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NACH</a:t>
            </a:r>
            <a:r>
              <a:rPr sz="1300" b="0" i="0" baseline="-25000">
                <a:solidFill>
                  <a:srgbClr val="1F2933"/>
                </a:solidFill>
                <a:latin typeface="Calibri"/>
              </a:rPr>
              <a:t>r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 = log(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choice</a:t>
            </a:r>
            <a:r>
              <a:rPr sz="1300" b="0" i="0" baseline="-25000">
                <a:solidFill>
                  <a:srgbClr val="1F2933"/>
                </a:solidFill>
                <a:latin typeface="Calibri"/>
              </a:rPr>
              <a:t>r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 + 1) / log(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depth</a:t>
            </a:r>
            <a:r>
              <a:rPr sz="1300" b="0" i="0" baseline="-25000">
                <a:solidFill>
                  <a:srgbClr val="1F2933"/>
                </a:solidFill>
                <a:latin typeface="Calibri"/>
              </a:rPr>
              <a:t>r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 + 3) — a cluster attribute, not an edge condition</a:t>
            </a:r>
          </a:p>
          <a:p>
            <a:pPr algn="l" marL="228600" indent="-228600">
              <a:lnSpc>
                <a:spcPct val="110000"/>
              </a:lnSpc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1F2933"/>
                </a:solidFill>
                <a:latin typeface="Calibri"/>
              </a:rPr>
              <a:t>Groups: same procedure as all definitions, split to a 10-min walking diameter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F2933"/>
                </a:solidFill>
                <a:latin typeface="Cambria"/>
              </a:rPr>
              <a:t>N3 · Formal definition</a:t>
            </a:r>
          </a:p>
        </p:txBody>
      </p:sp>
      <p:pic>
        <p:nvPicPr>
          <p:cNvPr id="3" name="Picture 2" descr="concept_N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435" y="1234440"/>
            <a:ext cx="4732808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1371600"/>
            <a:ext cx="50292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10000"/>
              </a:lnSpc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Field = segments reachable with angular cost ≤ θc and path length ≤ R</a:t>
            </a:r>
          </a:p>
          <a:p>
            <a:pPr algn="l" marL="228600" indent="-228600">
              <a:lnSpc>
                <a:spcPct val="110000"/>
              </a:lnSpc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J = length-weighted Jaccard of two parks' fields, for angular and metric fields</a:t>
            </a:r>
          </a:p>
          <a:p>
            <a:pPr algn="l" marL="228600" indent="-228600">
              <a:lnSpc>
                <a:spcPct val="110000"/>
              </a:lnSpc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Edge if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J</a:t>
            </a:r>
            <a:r>
              <a:rPr sz="1400" b="0" i="0" baseline="-25000">
                <a:solidFill>
                  <a:srgbClr val="1F2933"/>
                </a:solidFill>
                <a:latin typeface="Calibri"/>
              </a:rPr>
              <a:t>ang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 ≥ τ and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J</a:t>
            </a:r>
            <a:r>
              <a:rPr sz="1400" b="0" i="0" baseline="-25000">
                <a:solidFill>
                  <a:srgbClr val="1F2933"/>
                </a:solidFill>
                <a:latin typeface="Calibri"/>
              </a:rPr>
              <a:t>ang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 /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J</a:t>
            </a:r>
            <a:r>
              <a:rPr sz="1400" b="0" i="0" baseline="-25000">
                <a:solidFill>
                  <a:srgbClr val="1F2933"/>
                </a:solidFill>
                <a:latin typeface="Calibri"/>
              </a:rPr>
              <a:t>met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 ≥ κ</a:t>
            </a:r>
          </a:p>
          <a:p>
            <a:pPr algn="l" marL="228600" indent="-228600">
              <a:lnSpc>
                <a:spcPct val="110000"/>
              </a:lnSpc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16 settings: θc ∈ {45, 90}° × R ∈ {800, 1600} m × τ ∈ {0.1, 0.2} × κ ∈ {1.0, 1.25}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470916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4828032"/>
            <a:ext cx="4663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F2933"/>
                </a:solidFill>
                <a:latin typeface="Calibri"/>
              </a:rPr>
              <a:t>Toy grid: the near pair shares fields only because it is close (ratio 0.41); the far pair on one street keeps sharing its few-turn field (ratio 1.25).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F2933"/>
                </a:solidFill>
                <a:latin typeface="Cambria"/>
              </a:rPr>
              <a:t>From park graphs to robust groups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603504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0" y="1371600"/>
            <a:ext cx="484632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350" b="1" i="0">
                <a:solidFill>
                  <a:srgbClr val="E07A3F"/>
                </a:solidFill>
                <a:latin typeface="Calibri"/>
              </a:rPr>
              <a:t>Percolation  </a:t>
            </a:r>
            <a:r>
              <a:rPr sz="1350" b="0" i="0">
                <a:solidFill>
                  <a:srgbClr val="1F2933"/>
                </a:solidFill>
                <a:latin typeface="Calibri"/>
              </a:rPr>
              <a:t>Once θ ≥ 45° at R ≥ 1.6 km, or one turn is allowed, most of a borough's parks fall into one component; Queens and Staten Island percolate much later.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350" b="1" i="0">
                <a:solidFill>
                  <a:srgbClr val="2C5F2D"/>
                </a:solidFill>
                <a:latin typeface="Calibri"/>
              </a:rPr>
              <a:t>Communities  </a:t>
            </a:r>
            <a:r>
              <a:rPr sz="1350" b="0" i="0">
                <a:solidFill>
                  <a:srgbClr val="1F2933"/>
                </a:solidFill>
                <a:latin typeface="Calibri"/>
              </a:rPr>
              <a:t>In each setting, Louvain communities find internally dense sets of parks (resolution γ = 1, 2, 4).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350" b="1" i="0">
                <a:solidFill>
                  <a:srgbClr val="2C5F2D"/>
                </a:solidFill>
                <a:latin typeface="Calibri"/>
              </a:rPr>
              <a:t>Consensus  </a:t>
            </a:r>
            <a:r>
              <a:rPr sz="1350" b="0" i="0">
                <a:solidFill>
                  <a:srgbClr val="1F2933"/>
                </a:solidFill>
                <a:latin typeface="Calibri"/>
              </a:rPr>
              <a:t>Co-membership share across settings → average-linkage clusters (≥ 0.5) → split to a 10-min walking diameter.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350" b="1" i="0">
                <a:solidFill>
                  <a:srgbClr val="C0392B"/>
                </a:solidFill>
                <a:latin typeface="Calibri"/>
              </a:rPr>
              <a:t>Isolation  </a:t>
            </a:r>
            <a:r>
              <a:rPr sz="1350" b="0" i="0">
                <a:solidFill>
                  <a:srgbClr val="1F2933"/>
                </a:solidFill>
                <a:latin typeface="Calibri"/>
              </a:rPr>
              <a:t>IsolationPersistence = share of settings with no configurational edge; ≥ 0.8 = robust isolated.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F2933"/>
                </a:solidFill>
                <a:latin typeface="Cambria"/>
              </a:rPr>
              <a:t>Proximity check (AUC)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676656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589520" y="1371600"/>
            <a:ext cx="4023360" cy="3291840"/>
          </a:xfrm>
          <a:prstGeom prst="roundRect">
            <a:avLst>
              <a:gd name="adj" fmla="val 6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1554480"/>
            <a:ext cx="361188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50" b="1" i="0">
                <a:solidFill>
                  <a:srgbClr val="1F2933"/>
                </a:solidFill>
                <a:latin typeface="Calibri"/>
              </a:rPr>
              <a:t>Proximity AUC: </a:t>
            </a:r>
            <a:r>
              <a:rPr sz="1350" b="0" i="0">
                <a:solidFill>
                  <a:srgbClr val="1F2933"/>
                </a:solidFill>
                <a:latin typeface="Calibri"/>
              </a:rPr>
              <a:t>probability that a connected pair is closer than an unconnected one; &gt; 0.85 = proximity-dominated.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50" b="1" i="0">
                <a:solidFill>
                  <a:srgbClr val="1F2933"/>
                </a:solidFill>
                <a:latin typeface="Calibri"/>
              </a:rPr>
              <a:t>Result: </a:t>
            </a:r>
            <a:r>
              <a:rPr sz="1350" b="0" i="0">
                <a:solidFill>
                  <a:srgbClr val="1F2933"/>
                </a:solidFill>
                <a:latin typeface="Calibri"/>
              </a:rPr>
              <a:t>no definition crosses 0.85 once distance is held to its search bound.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50" b="1" i="0">
                <a:solidFill>
                  <a:srgbClr val="1F2933"/>
                </a:solidFill>
                <a:latin typeface="Calibri"/>
              </a:rPr>
              <a:t>Spearman </a:t>
            </a:r>
            <a:r>
              <a:rPr sz="1350" b="0" i="0">
                <a:solidFill>
                  <a:srgbClr val="1F2933"/>
                </a:solidFill>
                <a:latin typeface="Calibri"/>
              </a:rPr>
              <a:t>(angular cost vs network distance) ≈ 0.55.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F2933"/>
                </a:solidFill>
                <a:latin typeface="Cambria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Percolation: allowing one turn connects almost all parks in a borough — groups rely on strict settings and community detection</a:t>
            </a:r>
          </a:p>
          <a:p>
            <a:pPr algn="l" marL="228600" indent="-22860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Turn costs include bends inside segments (one turn ≈ 90–100°), so θ = 90° is a strict one-turn threshold</a:t>
            </a:r>
          </a:p>
          <a:p>
            <a:pPr algn="l" marL="228600" indent="-22860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OSM completeness and mapping style (separately drawn sidewalks) affect angular costs; S results differ from C</a:t>
            </a:r>
          </a:p>
          <a:p>
            <a:pPr algn="l" marL="228600" indent="-22860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Park entrances unknown (boundary attachment); N2 computed on C only; long linear parks split into ~400 m pieces</a:t>
            </a:r>
          </a:p>
          <a:p>
            <a:pPr algn="l" marL="228600" indent="-22860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D: only the 200 m setting avoids percolation, so D groups are tight walking-distance groups</a:t>
            </a:r>
          </a:p>
          <a:p>
            <a:pPr algn="l" marL="228600" indent="-22860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N1 and N2 groups overlap substantially (ARI 0.69) — street-axis continuity is a stricter subset of few-turn links</a:t>
            </a:r>
          </a:p>
          <a:p>
            <a:pPr algn="l" marL="228600" indent="-22860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Calibri"/>
              </a:rPr>
              <a:t>Groups not yet validated against observed park use or pedestrian counts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