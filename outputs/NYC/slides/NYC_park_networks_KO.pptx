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거리(D)로도 같은 묶음이 되는 공원 쌍의 비율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거리(D)로도 같은 묶음이 되는 공원 쌍의 비율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Sheet1!$A$2:$A$4</c:f>
              <c:strCache>
                <c:ptCount val="3"/>
                <c:pt idx="0">
                  <c:v>N1 적게 꺾는 길</c:v>
                </c:pt>
                <c:pt idx="1">
                  <c:v>N2 같은 길(축)</c:v>
                </c:pt>
                <c:pt idx="2">
                  <c:v>N3 겹치는 생활권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0.5904977375565611</c:v>
                </c:pt>
                <c:pt idx="1">
                  <c:v>0.6420634920634921</c:v>
                </c:pt>
                <c:pt idx="2">
                  <c:v>0.5094339622641509</c:v>
                </c:pt>
              </c:numCache>
            </c:numRef>
          </c:val>
        </c:ser>
        <c:dLbls>
          <c:numFmt formatCode="0%" sourceLinked="0"/>
          <c:txPr>
            <a:bodyPr/>
            <a:lstStyle/>
            <a:p>
              <a:pPr>
                <a:defRPr sz="14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dispBlanksAs val="gap"/>
  </c:chart>
  <c:txPr>
    <a:bodyPr/>
    <a:lstStyle/>
    <a:p>
      <a:pPr>
        <a:defRPr sz="1300">
          <a:solidFill>
            <a:srgbClr val="1F2933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4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세 정의 모두에서 고립된 공원 (121곳)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세 정의 모두에서 고립된 공원 (121곳)</c:v>
                </c:pt>
              </c:strCache>
            </c:strRef>
          </c:tx>
          <c:spPr>
            <a:solidFill>
              <a:srgbClr val="C0392B"/>
            </a:solidFill>
          </c:spPr>
          <c:cat>
            <c:strRef>
              <c:f>Sheet1!$A$2:$A$6</c:f>
              <c:strCache>
                <c:ptCount val="5"/>
                <c:pt idx="0">
                  <c:v>맨해튼</c:v>
                </c:pt>
                <c:pt idx="1">
                  <c:v>브롱크스</c:v>
                </c:pt>
                <c:pt idx="2">
                  <c:v>브루클린</c:v>
                </c:pt>
                <c:pt idx="3">
                  <c:v>퀸스</c:v>
                </c:pt>
                <c:pt idx="4">
                  <c:v>스태튼아일랜드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13</c:v>
                </c:pt>
                <c:pt idx="1">
                  <c:v>8</c:v>
                </c:pt>
                <c:pt idx="2">
                  <c:v>13</c:v>
                </c:pt>
                <c:pt idx="3">
                  <c:v>52</c:v>
                </c:pt>
                <c:pt idx="4">
                  <c:v>35</c:v>
                </c:pt>
              </c:numCache>
            </c:numRef>
          </c:val>
        </c:ser>
        <c:dLbls>
          <c:txPr>
            <a:bodyPr/>
            <a:lstStyle/>
            <a:p>
              <a:pPr>
                <a:defRPr sz="12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6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BFC5BF"/>
            </a:solidFill>
          </a:ln>
        </c:sp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200">
          <a:solidFill>
            <a:srgbClr val="1F2933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3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N1: 최대 연결요소 비율 (보로 공원 중 비율, 보로별 최댓값)</a:t>
            </a:r>
          </a:p>
        </c:rich>
      </c:tx>
      <c:layout/>
      <c:overlay val="0"/>
    </c:title>
    <c:autoTitleDeleted val="0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 = 800 m</c:v>
                </c:pt>
              </c:strCache>
            </c:strRef>
          </c:tx>
          <c:spPr>
            <a:ln w="34925">
              <a:solidFill>
                <a:srgbClr val="97BC62"/>
              </a:solidFill>
            </a:ln>
          </c:spPr>
          <c:marker>
            <c:symbol val="circle"/>
            <c:size val="8"/>
            <c:spPr>
              <a:solidFill>
                <a:srgbClr val="97BC62"/>
              </a:solidFill>
              <a:ln>
                <a:solidFill>
                  <a:srgbClr val="97BC62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0.2915717539863325</c:v>
                </c:pt>
                <c:pt idx="1">
                  <c:v>0.357630979498861</c:v>
                </c:pt>
                <c:pt idx="2">
                  <c:v>0.6161879895561357</c:v>
                </c:pt>
                <c:pt idx="3">
                  <c:v>0.9453302961275628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 = 1600 m</c:v>
                </c:pt>
              </c:strCache>
            </c:strRef>
          </c:tx>
          <c:spPr>
            <a:ln w="34925">
              <a:solidFill>
                <a:srgbClr val="2C5F2D"/>
              </a:solidFill>
            </a:ln>
          </c:spPr>
          <c:marker>
            <c:symbol val="circle"/>
            <c:size val="8"/>
            <c:spPr>
              <a:solidFill>
                <a:srgbClr val="2C5F2D"/>
              </a:solidFill>
              <a:ln>
                <a:solidFill>
                  <a:srgbClr val="2C5F2D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0.3052391799544419</c:v>
                </c:pt>
                <c:pt idx="1">
                  <c:v>0.6038647342995169</c:v>
                </c:pt>
                <c:pt idx="2">
                  <c:v>0.8610478359908884</c:v>
                </c:pt>
                <c:pt idx="3">
                  <c:v>0.964573268921095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 = 3200 m</c:v>
                </c:pt>
              </c:strCache>
            </c:strRef>
          </c:tx>
          <c:spPr>
            <a:ln w="34925">
              <a:solidFill>
                <a:srgbClr val="1B2E25"/>
              </a:solidFill>
            </a:ln>
          </c:spPr>
          <c:marker>
            <c:symbol val="circle"/>
            <c:size val="8"/>
            <c:spPr>
              <a:solidFill>
                <a:srgbClr val="1B2E25"/>
              </a:solidFill>
              <a:ln>
                <a:solidFill>
                  <a:srgbClr val="1B2E25"/>
                </a:solidFill>
              </a:ln>
            </c:spPr>
          </c:marker>
          <c:cat>
            <c:strRef>
              <c:f>Sheet1!$A$2:$A$5</c:f>
              <c:strCache>
                <c:ptCount val="4"/>
                <c:pt idx="0">
                  <c:v>15°</c:v>
                </c:pt>
                <c:pt idx="1">
                  <c:v>45°</c:v>
                </c:pt>
                <c:pt idx="2">
                  <c:v>90°</c:v>
                </c:pt>
                <c:pt idx="3">
                  <c:v>180°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0.3052391799544419</c:v>
                </c:pt>
                <c:pt idx="1">
                  <c:v>0.8132118451025057</c:v>
                </c:pt>
                <c:pt idx="2">
                  <c:v>0.8724373576309795</c:v>
                </c:pt>
                <c:pt idx="3">
                  <c:v>0.9919484702093396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max val="1.0"/>
          <c:min val="0.0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%" sourceLinked="0"/>
        <c:majorTickMark val="out"/>
        <c:minorTickMark val="none"/>
        <c:tickLblPos val="nextTo"/>
        <c:spPr>
          <a:ln>
            <a:noFill/>
          </a:ln>
        </c:spPr>
        <c:crossAx val="2118791784"/>
        <c:crosses val="autoZero"/>
      </c:valAx>
    </c:plotArea>
    <c:legend>
      <c:legendPos val="b"/>
      <c:layout/>
      <c:overlay val="0"/>
    </c:legend>
    <c:plotVisOnly val="1"/>
    <c:dispBlanksAs val="gap"/>
    <c:showDLblsOverMax val="0"/>
  </c:chart>
  <c:txPr>
    <a:bodyPr/>
    <a:lstStyle/>
    <a:p>
      <a:pPr>
        <a:defRPr sz="1200">
          <a:solidFill>
            <a:srgbClr val="1F2933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탐색 한계 R 안 (판정 기준)</c:v>
                </c:pt>
              </c:strCache>
            </c:strRef>
          </c:tx>
          <c:spPr>
            <a:solidFill>
              <a:srgbClr val="2C5F2D"/>
            </a:solidFill>
          </c:spPr>
          <c:cat>
            <c:strRef>
              <c:f>Sheet1!$A$2:$A$5</c:f>
              <c:strCache>
                <c:ptCount val="4"/>
                <c:pt idx="0">
                  <c:v>N1 적게 꺾는 길</c:v>
                </c:pt>
                <c:pt idx="1">
                  <c:v>N1rel (상대 기준)</c:v>
                </c:pt>
                <c:pt idx="2">
                  <c:v>N2 같은 길(축)</c:v>
                </c:pt>
                <c:pt idx="3">
                  <c:v>N3 겹치는 생활권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0.77692641411823</c:v>
                </c:pt>
                <c:pt idx="1">
                  <c:v>0.5956936391552188</c:v>
                </c:pt>
                <c:pt idx="2">
                  <c:v>0.7373541617431105</c:v>
                </c:pt>
                <c:pt idx="3">
                  <c:v>0.729018732415785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3.2 km 안 모든 쌍</c:v>
                </c:pt>
              </c:strCache>
            </c:strRef>
          </c:tx>
          <c:spPr>
            <a:solidFill>
              <a:srgbClr val="C9D6C2"/>
            </a:solidFill>
          </c:spPr>
          <c:cat>
            <c:strRef>
              <c:f>Sheet1!$A$2:$A$5</c:f>
              <c:strCache>
                <c:ptCount val="4"/>
                <c:pt idx="0">
                  <c:v>N1 적게 꺾는 길</c:v>
                </c:pt>
                <c:pt idx="1">
                  <c:v>N1rel (상대 기준)</c:v>
                </c:pt>
                <c:pt idx="2">
                  <c:v>N2 같은 길(축)</c:v>
                </c:pt>
                <c:pt idx="3">
                  <c:v>N3 겹치는 생활권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0.944083812051425</c:v>
                </c:pt>
                <c:pt idx="1">
                  <c:v>0.5956936391552188</c:v>
                </c:pt>
                <c:pt idx="2">
                  <c:v>0.9774435936254148</c:v>
                </c:pt>
                <c:pt idx="3">
                  <c:v>0.8537234049895721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100"/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overlap val="-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5"/>
        </c:scaling>
        <c:delete val="0"/>
        <c:axPos val="l"/>
        <c:majorGridlines>
          <c:spPr>
            <a:ln>
              <a:solidFill>
                <a:srgbClr val="E3E6E1"/>
              </a:solidFill>
            </a:ln>
          </c:spPr>
        </c:majorGridlines>
        <c:numFmt formatCode="0.00" sourceLinked="0"/>
        <c:majorTickMark val="out"/>
        <c:minorTickMark val="none"/>
        <c:tickLblPos val="nextTo"/>
        <c:spPr>
          <a:ln>
            <a:noFill/>
          </a:ln>
        </c:spPr>
        <c:crossAx val="-2068027336"/>
        <c:crosses val="autoZero"/>
      </c:valAx>
    </c:plotArea>
    <c:legend>
      <c:legendPos val="b"/>
      <c:overlay val="0"/>
    </c:legend>
    <c:dispBlanksAs val="gap"/>
  </c:chart>
  <c:txPr>
    <a:bodyPr/>
    <a:lstStyle/>
    <a:p>
      <a:pPr>
        <a:defRPr sz="1200">
          <a:solidFill>
            <a:srgbClr val="1F2933"/>
          </a:solidFill>
          <a:latin typeface="Malgun Gothic"/>
        </a:defRPr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Cityseer를 이용한 Space Syntax 기반 NYC 공원 분석. 지도 색 = 적게 꺾는 길(N1) 묶음.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근접성과 길의 짜임새 대비.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네 정의(D·N1·N2·N3) 한 장 요약; 형식 정의는 부록.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자료와 필터.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각도(simplest path) 비용 설명.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입구 자료 없이 경계 기반 연결.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D는 보행 최단거리가 200/400/800 m 이하인 공원을 잇고, 다른 정의와 같은 묶음 절차를 씁니다.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 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N2 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N3 결과.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도보 거리 안전장치.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묶인 공원 쌍 중 D에서도 묶이는 비율.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N1·N2·N3 모두에서 고립.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산출물: outputs/NYC/clusters 의 park_cluster_membership.csv, clusters_&lt;def&gt;.csv/.geojson (100 m 상업 영역).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정리.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부록.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Relationship Id="rId4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image" Target="../media/image14.png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image" Target="../media/image16.png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image" Target="../media/image18.png"/><Relationship Id="rId4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Relationship Id="rId3" Type="http://schemas.openxmlformats.org/officeDocument/2006/relationships/chart" Target="../charts/chart2.xml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188720"/>
            <a:ext cx="612648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뉴욕의 공원들은</a:t>
            </a:r>
          </a:p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36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길로 어떻게 이어져 있을까?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3520440"/>
            <a:ext cx="576072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0" i="0" lang="ko-KR" altLang="en-US">
                <a:solidFill>
                  <a:srgbClr val="97BC62"/>
                </a:solidFill>
                <a:latin typeface="Malgun Gothic"/>
                <a:ea typeface="Malgun Gothic"/>
              </a:rPr>
              <a:t>거리만이 아니라 ‘길의 모양’으로 중소형 공원 1,902곳의 묶음 찾기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5029200"/>
            <a:ext cx="57607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 lang="ko-KR" altLang="en-US">
                <a:solidFill>
                  <a:srgbClr val="B8C7B5"/>
                </a:solidFill>
                <a:latin typeface="Malgun Gothic"/>
                <a:ea typeface="Malgun Gothic"/>
              </a:rPr>
              <a:t>NYC 공원 자료 · 오픈스트리트맵 보행망 · Cityseer 5.8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 lang="ko-KR" altLang="en-US">
                <a:solidFill>
                  <a:srgbClr val="B8C7B5"/>
                </a:solidFill>
                <a:latin typeface="Malgun Gothic"/>
                <a:ea typeface="Malgun Gothic"/>
              </a:rPr>
              <a:t>2026년 10월</a:t>
            </a:r>
          </a:p>
        </p:txBody>
      </p:sp>
      <p:pic>
        <p:nvPicPr>
          <p:cNvPr id="5" name="Picture 4" descr="title_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795829"/>
            <a:ext cx="5029200" cy="526634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가깝다고 다 이어진 것은 아니다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11064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왜: 다음 단계에서 이어진 공원 묶음 주변에 상점과 방문이 더 많은지 검증합니다.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645920"/>
            <a:ext cx="484632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보통은 두 공원이 얼마나 떨어져 있는지를 봅니다. 하지만 사람은 ‘따라가기 쉬운 길’을 고릅니다.</a:t>
            </a:r>
          </a:p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덜 꺾이는 길은 단순하고 찾기 쉽습니다. 큰길 하나를 따라 쭉 걷는 것처럼요.</a:t>
            </a:r>
          </a:p>
          <a:p>
            <a:pPr algn="l" marL="228600" indent="-228600">
              <a:lnSpc>
                <a:spcPct val="110000"/>
              </a:lnSpc>
              <a:spcAft>
                <a:spcPts val="11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그래서 이렇게 묻습니다: 길의 짜임새 자체가 이어 주는 공원은 어디일까?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4892040"/>
            <a:ext cx="4846320" cy="12344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44805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이 생각은 길의 모양이 사람의 움직임을 어떻게 이끄는지 연구하는 ‘스페이스 신택스(Space Syntax)’에서 왔습니다.</a:t>
            </a:r>
          </a:p>
        </p:txBody>
      </p:sp>
      <p:pic>
        <p:nvPicPr>
          <p:cNvPr id="7" name="Picture 6" descr="close_vs_conn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15000" y="1716161"/>
            <a:ext cx="6035040" cy="2694158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5715000" y="4709160"/>
            <a:ext cx="2743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 lang="ko-KR" altLang="en-US">
                <a:solidFill>
                  <a:srgbClr val="C0392B"/>
                </a:solidFill>
                <a:latin typeface="Malgun Gothic"/>
                <a:ea typeface="Malgun Gothic"/>
              </a:rPr>
              <a:t>지도에선 가깝지만, 장애물을 빙 돌아가야 함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778240" y="4709160"/>
            <a:ext cx="29718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3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더 멀지만, 곧은 길 하나로 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 두 곳이 ‘이어져 있다’는 네 가지 뜻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F3F5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def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94829" y="1325880"/>
            <a:ext cx="1741092" cy="1920240"/>
          </a:xfrm>
          <a:prstGeom prst="rect">
            <a:avLst/>
          </a:prstGeom>
        </p:spPr>
      </p:pic>
      <p:sp>
        <p:nvSpPr>
          <p:cNvPr id="5" name="Oval 4"/>
          <p:cNvSpPr/>
          <p:nvPr/>
        </p:nvSpPr>
        <p:spPr>
          <a:xfrm>
            <a:off x="713232" y="3337560"/>
            <a:ext cx="457200" cy="457200"/>
          </a:xfrm>
          <a:prstGeom prst="ellipse">
            <a:avLst/>
          </a:prstGeom>
          <a:solidFill>
            <a:srgbClr val="5F6B7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61872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가까운 거리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실제 길로 걸어서 몇 분(200–800 m) 거리 안에 있다.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 lang="ko-KR" altLang="en-US">
                <a:solidFill>
                  <a:srgbClr val="E07A3F"/>
                </a:solidFill>
                <a:latin typeface="Malgun Gothic"/>
                <a:ea typeface="Malgun Gothic"/>
              </a:rPr>
              <a:t>흔히 말하는 ‘가깝다’ — 비교 기준선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55848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def_N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774046" y="1325880"/>
            <a:ext cx="1797075" cy="1920239"/>
          </a:xfrm>
          <a:prstGeom prst="rect">
            <a:avLst/>
          </a:prstGeom>
        </p:spPr>
      </p:pic>
      <p:sp>
        <p:nvSpPr>
          <p:cNvPr id="11" name="Oval 10"/>
          <p:cNvSpPr/>
          <p:nvPr/>
        </p:nvSpPr>
        <p:spPr>
          <a:xfrm>
            <a:off x="3520440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N1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69080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적게 꺾는 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38728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한 공원에서 다른 공원까지 거의 꺾지 않고 걸어갈 수 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38728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 lang="ko-KR" altLang="en-US">
                <a:solidFill>
                  <a:srgbClr val="E07A3F"/>
                </a:solidFill>
                <a:latin typeface="Malgun Gothic"/>
                <a:ea typeface="Malgun Gothic"/>
              </a:rPr>
              <a:t>“쭉 직진하세요” 한마디로 끝나는 길 안내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63055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6" name="Picture 15" descr="def_N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51862" y="1325880"/>
            <a:ext cx="1855858" cy="1920239"/>
          </a:xfrm>
          <a:prstGeom prst="rect">
            <a:avLst/>
          </a:prstGeom>
        </p:spPr>
      </p:pic>
      <p:sp>
        <p:nvSpPr>
          <p:cNvPr id="17" name="Oval 16"/>
          <p:cNvSpPr/>
          <p:nvPr/>
        </p:nvSpPr>
        <p:spPr>
          <a:xfrm>
            <a:off x="6327647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N2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76288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같은 길(축) 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45936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두 공원이 다른 길로 갈아타지 않고 쭉 따라갈 수 있는 하나의 길 위에 있다.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45936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 lang="ko-KR" altLang="en-US">
                <a:solidFill>
                  <a:srgbClr val="E07A3F"/>
                </a:solidFill>
                <a:latin typeface="Malgun Gothic"/>
                <a:ea typeface="Malgun Gothic"/>
              </a:rPr>
              <a:t>같은 대로변에 있는 두 가게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970263" y="1234440"/>
            <a:ext cx="2633472" cy="43891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def_N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0" y="1325880"/>
            <a:ext cx="1920240" cy="1920240"/>
          </a:xfrm>
          <a:prstGeom prst="rect">
            <a:avLst/>
          </a:prstGeom>
        </p:spPr>
      </p:pic>
      <p:sp>
        <p:nvSpPr>
          <p:cNvPr id="23" name="Oval 22"/>
          <p:cNvSpPr/>
          <p:nvPr/>
        </p:nvSpPr>
        <p:spPr>
          <a:xfrm>
            <a:off x="9134855" y="3337560"/>
            <a:ext cx="457200" cy="457200"/>
          </a:xfrm>
          <a:prstGeom prst="ellipse">
            <a:avLst/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2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N3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683495" y="3383280"/>
            <a:ext cx="1874519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겹치는 생활권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153143" y="3913632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각 공원에서 거의 직진만으로 닿는 길들이 거리만으로 기대되는 것보다 많이 겹친다.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53143" y="501091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150" b="0" i="0" lang="ko-KR" altLang="en-US">
                <a:solidFill>
                  <a:srgbClr val="E07A3F"/>
                </a:solidFill>
                <a:latin typeface="Malgun Gothic"/>
                <a:ea typeface="Malgun Gothic"/>
              </a:rPr>
              <a:t>같은 골목을 쓰는 두 학교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760720"/>
            <a:ext cx="11064240" cy="6400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77240" y="5760720"/>
            <a:ext cx="1060704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5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네 정의 모두: 한 묶음 안의 공원끼리는 서로 걸어서 10분(800 m) 이내여야 합니다.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사용한 자료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258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1,902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025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중소형 공원 — 센트럴파크 같은 초대형 공원과 공원이 아닌 부지는 제외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29260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496k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027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걸을 수 있는 길·산책로 (무료 지도 ‘오픈스트리트맵’, 지도판 위키백과)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526280"/>
            <a:ext cx="47548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8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25 → 180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202936"/>
            <a:ext cx="47548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아주 긴 공원(도로 중앙 녹지 등)은 약 400 m씩 잘라, 공원 하나가 몇 km 떨어진 곳을 잇지 못하게 함</a:t>
            </a:r>
          </a:p>
        </p:txBody>
      </p:sp>
      <p:pic>
        <p:nvPicPr>
          <p:cNvPr id="9" name="Picture 8" descr="network_park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9033" y="1234440"/>
            <a:ext cx="4841292" cy="4846319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035040" y="6126480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10000"/>
              </a:lnSpc>
              <a:spcAft>
                <a:spcPts val="600"/>
              </a:spcAft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브루클린 포트그린 주변의 보행망(선)과 공원(초록)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길이 얼마나 꺾이는지 세기</a:t>
            </a:r>
          </a:p>
        </p:txBody>
      </p:sp>
      <p:pic>
        <p:nvPicPr>
          <p:cNvPr id="3" name="Picture 2" descr="turn_ico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328425"/>
            <a:ext cx="5120640" cy="164083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3200400"/>
            <a:ext cx="51206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직진은 0°, 모퉁이 하나를 돌면 약 90°.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두 공원 사이에서 ‘가장 짧은 길’이 아니라 ‘가장 덜 꺾는 길’을 찾아, 꺾인 각도를 모두 더합니다.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지도: 한 공원에서 출발해 진한 파랑 길은 직진만으로, 연한 파랑은 한 번, 주황은 두 번 꺾어야 닿습니다.</a:t>
            </a:r>
          </a:p>
          <a:p>
            <a:pPr algn="l" marL="228600" indent="-228600">
              <a:lnSpc>
                <a:spcPct val="110000"/>
              </a:lnSpc>
              <a:spcAft>
                <a:spcPts val="9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계산은 길 네트워크 분석용 오픈소스 도구 Cityseer로 했습니다.</a:t>
            </a:r>
          </a:p>
        </p:txBody>
      </p:sp>
      <p:pic>
        <p:nvPicPr>
          <p:cNvPr id="5" name="Picture 4" descr="angular_fiel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1298493"/>
            <a:ext cx="5852160" cy="51754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공원은 어디서 길과 만날까?</a:t>
            </a:r>
          </a:p>
        </p:txBody>
      </p:sp>
      <p:pic>
        <p:nvPicPr>
          <p:cNvPr id="3" name="Picture 2" descr="attach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485" y="1234440"/>
            <a:ext cx="4955828" cy="530351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309360" y="1645920"/>
            <a:ext cx="5303520" cy="4114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 입구가 어디인지 알려 주는 자료가 없습니다.</a:t>
            </a:r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그래서 공원 가장자리를 따라 난 길(주황)을 공원의 ‘문’으로 봅니다.</a:t>
            </a:r>
          </a:p>
          <a:p>
            <a:pPr algn="l" marL="228600" indent="-228600">
              <a:lnSpc>
                <a:spcPct val="110000"/>
              </a:lnSpc>
              <a:spcAft>
                <a:spcPts val="1600"/>
              </a:spcAft>
              <a:buFont typeface="Arial"/>
              <a:buChar char="•"/>
            </a:pPr>
            <a:r>
              <a:rPr sz="17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큰 공원은 가장자리 길이 많아 유리해지므로, 고르게 흩어진 최대 8곳(검정)에서만 출발합니다.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D · 걸어서 가까운 공원들 (기준선)</a:t>
            </a:r>
          </a:p>
        </p:txBody>
      </p:sp>
      <p:pic>
        <p:nvPicPr>
          <p:cNvPr id="3" name="Picture 2" descr="D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8390"/>
            <a:ext cx="4480559" cy="4689858"/>
          </a:xfrm>
          <a:prstGeom prst="rect">
            <a:avLst/>
          </a:prstGeom>
        </p:spPr>
      </p:pic>
      <p:pic>
        <p:nvPicPr>
          <p:cNvPr id="4" name="Picture 3" descr="D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2497"/>
            <a:ext cx="4846320" cy="4781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349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496312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1,274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1729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묶음에 속한 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758183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4348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보통 묶음의 공원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020056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C0392B"/>
                </a:solidFill>
                <a:latin typeface="Malgun Gothic"/>
                <a:ea typeface="Malgun Gothic"/>
              </a:rPr>
              <a:t>76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69671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가까운 공원이 없는 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색 하나 = 묶음 하나. 순수한 ‘가까움’만으로 만든 묶음 — 나머지 세 정의는 이것과 비교합니다.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 · 적게 꺾는 길로 이어진 공원들</a:t>
            </a:r>
          </a:p>
        </p:txBody>
      </p:sp>
      <p:pic>
        <p:nvPicPr>
          <p:cNvPr id="3" name="Picture 2" descr="N1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358390"/>
            <a:ext cx="4480559" cy="4689858"/>
          </a:xfrm>
          <a:prstGeom prst="rect">
            <a:avLst/>
          </a:prstGeom>
        </p:spPr>
      </p:pic>
      <p:pic>
        <p:nvPicPr>
          <p:cNvPr id="4" name="Picture 3" descr="N1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08185"/>
            <a:ext cx="4846320" cy="479026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340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걸어갈 수 있는 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496312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1,178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172968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묶음에 속한 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3758183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875520" y="4434840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보통 묶음의 공원 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875520" y="5020056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C0392B"/>
                </a:solidFill>
                <a:latin typeface="Malgun Gothic"/>
                <a:ea typeface="Malgun Gothic"/>
              </a:rPr>
              <a:t>132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0" y="5696712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적게 꺾는 짝이 없는 공원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6263640"/>
            <a:ext cx="9144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색 하나 = 묶음 하나. 주황 선: 걸어서 10분 이내의 적게 꺾는 연결.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N2 · 같은 길(축) 위의 공원들</a:t>
            </a:r>
          </a:p>
        </p:txBody>
      </p:sp>
      <p:pic>
        <p:nvPicPr>
          <p:cNvPr id="3" name="Picture 2" descr="N2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5550"/>
            <a:ext cx="4480559" cy="4689858"/>
          </a:xfrm>
          <a:prstGeom prst="rect">
            <a:avLst/>
          </a:prstGeom>
        </p:spPr>
      </p:pic>
      <p:pic>
        <p:nvPicPr>
          <p:cNvPr id="4" name="Picture 3" descr="N2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2497"/>
            <a:ext cx="4846320" cy="4781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329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56032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1,212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236976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묶음에 속한 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4023360"/>
            <a:ext cx="2148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‘길 축’ = 다른 길로 갈아타지 않고 쭉 따라갈 수 있는 연속된 길 (교차점마다 방향 변화 30° 미만).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N2 묶음의 46%가 큰길(통과 보행 상위 5%)에 닿아 있습니다 — 묶음 속성으로 기록.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N3 · 생활권을 공유하는 공원들</a:t>
            </a:r>
          </a:p>
        </p:txBody>
      </p:sp>
      <p:pic>
        <p:nvPicPr>
          <p:cNvPr id="3" name="Picture 2" descr="N3_overvie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95550"/>
            <a:ext cx="4480559" cy="4689858"/>
          </a:xfrm>
          <a:prstGeom prst="rect">
            <a:avLst/>
          </a:prstGeom>
        </p:spPr>
      </p:pic>
      <p:pic>
        <p:nvPicPr>
          <p:cNvPr id="4" name="Picture 3" descr="N3_zoo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1312497"/>
            <a:ext cx="4846320" cy="478164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9875520" y="123444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875520" y="1911095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 (대부분 2곳씩)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875520" y="2560320"/>
            <a:ext cx="214884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34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113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875520" y="3236976"/>
            <a:ext cx="2148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묶음에 속한 공원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4023360"/>
            <a:ext cx="214884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드뭅니다: 두 공원의 생활권이 ‘가까워서’ 겹치는 정도보다 더 많이 겹치는 경우는 적습니다.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25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N3는 약한 신호 — 주로 N1·N2와 비교하는 용도입니다.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묶음은 걸어갈 수 있어야: 10분 규칙</a:t>
            </a:r>
          </a:p>
        </p:txBody>
      </p:sp>
      <p:pic>
        <p:nvPicPr>
          <p:cNvPr id="3" name="Picture 2" descr="walk_spli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3736" y="1188720"/>
            <a:ext cx="5350447" cy="5394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25880"/>
            <a:ext cx="5394960" cy="2743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길 모양으로만 이으면 공원들이 몇 km씩 사슬처럼 이어질 수 있습니다.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그래서 묶음 안의 모든 공원 쌍은 실제 길로 걸어서 10분(800 m) 이내여야 합니다.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너무 긴 묶음은 나누고, 10분 안에 짝이 없는 공원은 묶음에서 빠집니다.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217920" y="4160520"/>
          <a:ext cx="5394960" cy="192024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286000"/>
                <a:gridCol w="1554480"/>
                <a:gridCol w="1554480"/>
              </a:tblGrid>
              <a:tr h="384048"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/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묶음 수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가장 큰 묶음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D 가까운 거리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281 → 349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29 → 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N1 적게 꺾는 길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217 → 340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41 → 15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N2 같은 길(축)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231 → 329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32 → 22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r>
                        <a:rPr sz="135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N3 겹치는 생활권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63 → 47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8 → 8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결국 거리 문제 아닐까?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548640" y="128016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040880" y="1463040"/>
            <a:ext cx="4572000" cy="47548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각 정의를 걸어서 가까운지만 보는 D와 비교합니다.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N1: 묶인 공원 쌍의 59%는 D에서도 묶임 — 나머지 41%는 길 모양 때문에 묶임.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N2: 64% · N3: 51%.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5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즉, 길의 모양이 ‘가까운 공원들 중 누가 함께 묶이는지’를 바꿉니다.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홀로 떨어진 공원들</a:t>
            </a:r>
          </a:p>
        </p:txBody>
      </p:sp>
      <p:pic>
        <p:nvPicPr>
          <p:cNvPr id="3" name="Picture 2" descr="cross_stat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447694"/>
            <a:ext cx="4572000" cy="4785571"/>
          </a:xfrm>
          <a:prstGeom prst="rect">
            <a:avLst/>
          </a:prstGeom>
        </p:spPr>
      </p:pic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5303520" y="1234440"/>
          <a:ext cx="6309360" cy="30175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303520" y="4480560"/>
            <a:ext cx="6309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주로 길이 굽고 막다른 길이 많은 스태튼아일랜드와 퀸스에 있습니다.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고속도로 옆이나 물가에 끼인 공원도 많습니다.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걸어서 이어지는 ‘공원 네트워크’에서 빠진 곳 — 계획할 때 살펴볼 만합니다.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다음 단계: 공원과 상업 활동</a:t>
            </a:r>
          </a:p>
        </p:txBody>
      </p:sp>
      <p:pic>
        <p:nvPicPr>
          <p:cNvPr id="3" name="Picture 2" descr="ring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2370" y="1188720"/>
            <a:ext cx="5453178" cy="53949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217920" y="1371600"/>
            <a:ext cx="539496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모든 공원은 정의마다 하나의 군집에 속합니다 (단독 공원은 그 자체로 하나의 군집).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각 군집의 공원 주변 100 m를 그 군집의 상업 영역으로 봅니다.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5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다음: 공원 규모·인구·일자리·가로 접근성을 통제한 뒤, 영역 안의 상점 수·업종 다양성·방문량(Advan POI)을 D·N1·N2·N3 군집끼리 비교합니다.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217920" y="4846320"/>
            <a:ext cx="5394960" cy="128016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0" y="4956048"/>
            <a:ext cx="5029200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3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준비 완료: 공원 면적, 보행 범위, 내부 연결, 큰길 비율, 고립 지수를 담은 군집 테이블.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정리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04672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길의 모양이 중요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적게 꺾는 길 기준으로 걸어갈 수 있는 공원 묶음 340개, 짝이 없는 공원 132곳.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15968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0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거리만의 문제가 아님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적게 꺾는 길로 묶인 공원 쌍의 41%는 거리만으로는 묶이지 않습니다.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83296" y="1463040"/>
            <a:ext cx="3520440" cy="274320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339327" y="1691640"/>
            <a:ext cx="301752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20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네 가지 렌즈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5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거리, 적게 꺾는 길, 같은 길(축), 겹치는 생활권은 서로 다른 묶음을 만듭니다 — 상업 분석 준비 완료.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663440"/>
            <a:ext cx="11064240" cy="822960"/>
          </a:xfrm>
          <a:prstGeom prst="roundRect">
            <a:avLst>
              <a:gd name="adj" fmla="val 6000"/>
            </a:avLst>
          </a:prstGeom>
          <a:solidFill>
            <a:srgbClr val="2439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63440"/>
            <a:ext cx="1051560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700" b="1" i="0" lang="ko-KR" altLang="en-US">
                <a:solidFill>
                  <a:srgbClr val="97BC62"/>
                </a:solidFill>
                <a:latin typeface="Malgun Gothic"/>
                <a:ea typeface="Malgun Gothic"/>
              </a:rPr>
              <a:t>다음 단계: 각 군집의 100 m 영역에서 상점과 방문을 재고 회귀분석하기.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E2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부록 · 기술적 세부사항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463040"/>
            <a:ext cx="1097280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분석 파이프라인과 도구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보행망 표현과 공원 연결 규칙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듀얼 그래프 위의 각도 비용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D·N1·N2·N3 형식 정의와 파라미터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공원 그래프에서 묶음으로 (퍼콜레이션)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근접성 검증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800" b="0" i="0" lang="ko-KR" altLang="en-US">
                <a:solidFill>
                  <a:srgbClr val="D6E2D0"/>
                </a:solidFill>
                <a:latin typeface="Malgun Gothic"/>
                <a:ea typeface="Malgun Gothic"/>
              </a:rPr>
              <a:t>한계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분석 파이프라인과 도구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OSM 보행망 (C / S)</a:t>
            </a:r>
          </a:p>
        </p:txBody>
      </p:sp>
      <p:sp>
        <p:nvSpPr>
          <p:cNvPr id="4" name="Right Arrow 3"/>
          <p:cNvSpPr/>
          <p:nvPr/>
        </p:nvSpPr>
        <p:spPr>
          <a:xfrm>
            <a:off x="2212848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2441448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Cityseer 듀얼 그래프</a:t>
            </a:r>
          </a:p>
        </p:txBody>
      </p:sp>
      <p:sp>
        <p:nvSpPr>
          <p:cNvPr id="6" name="Right Arrow 5"/>
          <p:cNvSpPr/>
          <p:nvPr/>
        </p:nvSpPr>
        <p:spPr>
          <a:xfrm>
            <a:off x="4105656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4334255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공원-네트워크 연결 (입구 없음)</a:t>
            </a:r>
          </a:p>
        </p:txBody>
      </p:sp>
      <p:sp>
        <p:nvSpPr>
          <p:cNvPr id="8" name="Right Arrow 7"/>
          <p:cNvSpPr/>
          <p:nvPr/>
        </p:nvSpPr>
        <p:spPr>
          <a:xfrm>
            <a:off x="5998464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227063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각도 관계·중심성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891271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119871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2C5F2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FFFFFF"/>
                </a:solidFill>
                <a:latin typeface="Malgun Gothic"/>
                <a:ea typeface="Malgun Gothic"/>
              </a:rPr>
              <a:t>공원 그래프 N1·N2·N3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784079" y="1847088"/>
            <a:ext cx="192024" cy="228600"/>
          </a:xfrm>
          <a:prstGeom prst="rightArrow">
            <a:avLst/>
          </a:prstGeom>
          <a:solidFill>
            <a:srgbClr val="97BC6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012680" y="1417320"/>
            <a:ext cx="1627632" cy="109728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2C5F2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" rIns="54864"/>
          <a:lstStyle/>
          <a:p>
            <a:pPr algn="ctr"/>
            <a:r>
              <a:rPr sz="130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지속성·합의·10분 분할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2926080"/>
            <a:ext cx="1106424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공원: NYC 공원 자료 2,061곳 → Flagship·비공원 부지·100 acres 초과 제외 → 1,902곳; 긴 선형 공원 25곳을 180개 구간으로 분할 (그래프 노드 2,057개)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보행망: OSMnx로 OSM 수집, sidewalk=separate 도로를 살린 맞춤 walk 필터, NYC + 3.2 km 버퍼; 보로별 네트워크 + 3.2 km 비보고 버퍼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도구: Cityseer 5.8 (듀얼 그래프, simplest/shortest Dijkstra, 각도 중심성), NetworkX (그래프, Louvain), GeoPandas/Shapely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보행망 표현과 공원 연결 규칙</a:t>
            </a:r>
          </a:p>
        </p:txBody>
      </p:sp>
      <p:pic>
        <p:nvPicPr>
          <p:cNvPr id="3" name="Picture 2" descr="network_S_vs_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27369"/>
            <a:ext cx="6949440" cy="3763182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589520" y="1280160"/>
            <a:ext cx="4114800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S는 보도·횡단보도를 따로 그림: 길 건너 마주 보는 공원도 약 180° 떨어진 것으로 계산됨.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C(차도 중심선 + 보행 전용로)는 Space Syntax 세그먼트 맵과 비슷 → 주 분석, S는 민감도 분석.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연결: 경계 ±20 m 띠 안 길이가 세그먼트의 50% 이상이거나 min(2.5·d, 둘레의 25%) 이상인 세그먼트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출발점 K = 8 (farthest-point sampling); 200 세그먼트 미만 연결요소에만 붙으면 ‘판정 불가’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듀얼 그래프 위의 각도 비용</a:t>
            </a:r>
          </a:p>
        </p:txBody>
      </p:sp>
      <p:pic>
        <p:nvPicPr>
          <p:cNvPr id="3" name="Picture 2" descr="concept_angul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403624"/>
            <a:ext cx="11064240" cy="2862031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48640" y="4617720"/>
            <a:ext cx="11064240" cy="16002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475488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Simplest path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Cityseer는 듀얼 그래프(길 세그먼트 = 노드)에서 누적 방향 변화(°)를 최소화하는 경로를 찾음. 세그먼트 안의 굴곡도 포함.</a:t>
            </a:r>
          </a:p>
          <a:p>
            <a:pPr algn="l">
              <a:lnSpc>
                <a:spcPct val="110000"/>
              </a:lnSpc>
              <a:spcAft>
                <a:spcPts val="800"/>
              </a:spcAft>
            </a:pPr>
            <a:r>
              <a:rPr sz="13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거리 한계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탐색은 최대 3.2 km; R ∈ {800, 1600, 3200} m는 경로 길이를 사후 필터링 — 거리는 탐색 범위일 뿐 연결의 정의가 아님.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D · 보행거리 (형식적 정의)</a:t>
            </a:r>
          </a:p>
        </p:txBody>
      </p:sp>
      <p:pic>
        <p:nvPicPr>
          <p:cNvPr id="3" name="Picture 2" descr="def_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7729" y="1371600"/>
            <a:ext cx="3813821" cy="420624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371600"/>
            <a:ext cx="5943600" cy="12344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481328"/>
            <a:ext cx="5486400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  ⇔  </a:t>
            </a: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D</a:t>
            </a:r>
            <a:r>
              <a:rPr sz="1600" b="1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ij</a:t>
            </a: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≤ d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D = 두 공원 연결 세그먼트 사이의 보행 최단거리 (Cityseer 최단경로 트리)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0" y="2880360"/>
            <a:ext cx="594360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3개 설정: d ∈ {200, 400, 800} m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맞닿은 공원(같은 가로 세그먼트, 폴리곤 접촉) 포함 — 근접성 그 자체</a:t>
            </a:r>
          </a:p>
          <a:p>
            <a:pPr algn="l" marL="228600" indent="-228600">
              <a:lnSpc>
                <a:spcPct val="110000"/>
              </a:lnSpc>
              <a:spcAft>
                <a:spcPts val="10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N1–N3와 같은 묶음 절차(퍼콜레이션 필터, Louvain γ = 2, 합의, 10분 분할) — RQ3의 근접성 기준선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 · 형식적 정의</a:t>
            </a:r>
          </a:p>
        </p:txBody>
      </p:sp>
      <p:pic>
        <p:nvPicPr>
          <p:cNvPr id="3" name="Picture 2" descr="concept_N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08179"/>
            <a:ext cx="4937760" cy="5064602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5669280" y="1325880"/>
            <a:ext cx="5943600" cy="11430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897880" y="1444752"/>
            <a:ext cx="5486400" cy="960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A</a:t>
            </a:r>
            <a:r>
              <a:rPr sz="145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ij</a:t>
            </a: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(R) = min (출발 u ∈ </a:t>
            </a: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B</a:t>
            </a:r>
            <a:r>
              <a:rPr sz="145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i</a:t>
            </a: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, 도착 v ∈ </a:t>
            </a: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B</a:t>
            </a:r>
            <a:r>
              <a:rPr sz="145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j</a:t>
            </a:r>
            <a:r>
              <a:rPr sz="14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) 각도 비용(u → v),  경로 길이 ≤ R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4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  ⇔  </a:t>
            </a:r>
            <a:r>
              <a:rPr sz="14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A</a:t>
            </a:r>
            <a:r>
              <a:rPr sz="1450" b="1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ij</a:t>
            </a:r>
            <a:r>
              <a:rPr sz="14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≤ θ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669280" y="2697480"/>
          <a:ext cx="5943600" cy="18288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914400"/>
                <a:gridCol w="2926080"/>
                <a:gridCol w="2103120"/>
              </a:tblGrid>
              <a:tr h="365760"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θ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의미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FFFFFF"/>
                          </a:solidFill>
                          <a:latin typeface="Malgun Gothic"/>
                          <a:ea typeface="Malgun Gothic"/>
                        </a:rPr>
                        <a:t>A와 연결</a:t>
                      </a:r>
                    </a:p>
                  </a:txBody>
                  <a:tcPr>
                    <a:solidFill>
                      <a:srgbClr val="2C5F2D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15°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같은 곧은 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B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45°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거의 직진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B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90°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직각 한 번 (엄격)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B, 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r>
                        <a:rPr sz="1300" b="1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180°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두 번 꺾음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0" i="0" lang="ko-KR" altLang="en-US">
                          <a:solidFill>
                            <a:srgbClr val="1F2933"/>
                          </a:solidFill>
                          <a:latin typeface="Malgun Gothic"/>
                          <a:ea typeface="Malgun Gothic"/>
                        </a:rPr>
                        <a:t>B, C, D</a:t>
                      </a:r>
                    </a:p>
                  </a:txBody>
                  <a:tcPr>
                    <a:solidFill>
                      <a:srgbClr val="EEF3EA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669280" y="4754880"/>
            <a:ext cx="5943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24개 설정: θ ∈ {15, 45, 90, 180}° × R ∈ {800, 1600, 3200} m × {최적 쌍, 강건 쌍 ≥ 2}</a:t>
            </a:r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묶음: 퍼콜레이션 없는 9개 설정에서 Louvain 커뮤니티(가중치 exp(−A/45°)), 합의 ≥ 0.5, 이후 도보 10분 지름으로 분할</a:t>
            </a:r>
          </a:p>
          <a:p>
            <a:pPr algn="l" marL="228600" indent="-228600">
              <a:lnSpc>
                <a:spcPct val="110000"/>
              </a:lnSpc>
              <a:spcAft>
                <a:spcPts val="400"/>
              </a:spcAft>
              <a:buFont typeface="Arial"/>
              <a:buChar char="•"/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실측 한 번 꺾는 경로는 약 90–100°(세그먼트 내부 굴곡 포함) → θ = 90°는 엄격한 기준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N2 · 가로축 연속성 (형식적 정의)</a:t>
            </a:r>
          </a:p>
        </p:txBody>
      </p:sp>
      <p:pic>
        <p:nvPicPr>
          <p:cNvPr id="3" name="Picture 2" descr="concept_N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2675" y="1280160"/>
            <a:ext cx="5941208" cy="4937760"/>
          </a:xfrm>
          <a:prstGeom prst="rect">
            <a:avLst/>
          </a:prstGeom>
        </p:spPr>
      </p:pic>
      <p:sp>
        <p:nvSpPr>
          <p:cNvPr id="4" name="Rounded Rectangle 3"/>
          <p:cNvSpPr/>
          <p:nvPr/>
        </p:nvSpPr>
        <p:spPr>
          <a:xfrm>
            <a:off x="6583680" y="1325880"/>
            <a:ext cx="5029200" cy="118872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12280" y="1444752"/>
            <a:ext cx="46634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  ⇔  같은 stroke 그리고 </a:t>
            </a: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gap</a:t>
            </a:r>
            <a:r>
              <a:rPr sz="1600" b="1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along</a:t>
            </a:r>
            <a:r>
              <a:rPr sz="16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≤ lim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0" i="0" lang="ko-KR" altLang="en-US">
                <a:solidFill>
                  <a:srgbClr val="5F6B73"/>
                </a:solidFill>
                <a:latin typeface="Malgun Gothic"/>
                <a:ea typeface="Malgun Gothic"/>
              </a:rPr>
              <a:t>stroke = 교차점에서 방향 변화 &lt; 30°인 세그먼트를 이어 붙인 연속 가로 (20°, 45°도 시험)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0" y="2743200"/>
            <a:ext cx="5029200" cy="3840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간격: stroke를 따라 잰 두 공원 연결 구간 사이 거리 (겹치면 0)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9개 설정: stroke 각도 ∈ {20, 30, 45}° × lim ∈ {400, 800, 1600} m; E0 쌍 제외; C 망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큰길 = 평균 NACH-1600 기준 네트워크 연장 상위 5%/10% stroke, 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NACH</a:t>
            </a:r>
            <a:r>
              <a:rPr sz="13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r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= log(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choice</a:t>
            </a:r>
            <a:r>
              <a:rPr sz="13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r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+ 1) / log(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depth</a:t>
            </a:r>
            <a:r>
              <a:rPr sz="13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r</a:t>
            </a: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+ 3) — 연결 조건이 아닌 군집 속성</a:t>
            </a:r>
          </a:p>
          <a:p>
            <a:pPr algn="l" marL="228600" indent="-228600">
              <a:lnSpc>
                <a:spcPct val="110000"/>
              </a:lnSpc>
              <a:spcAft>
                <a:spcPts val="700"/>
              </a:spcAft>
              <a:buFont typeface="Arial"/>
              <a:buChar char="•"/>
            </a:pPr>
            <a:r>
              <a:rPr sz="13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묶음: 모든 정의와 같은 절차, 도보 10분 지름으로 분할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N3 · 형식적 정의</a:t>
            </a:r>
          </a:p>
        </p:txBody>
      </p:sp>
      <p:pic>
        <p:nvPicPr>
          <p:cNvPr id="3" name="Picture 2" descr="concept_N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24" y="1234440"/>
            <a:ext cx="4450030" cy="52120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583680" y="1371600"/>
            <a:ext cx="502920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생활권 = 각도 비용 ≤ θc, 경로 길이 ≤ R로 닿는 세그먼트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J = 두 공원 생활권의 길이 가중 Jaccard (각도 기준, 거리 기준 각각)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 조건: 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J</a:t>
            </a:r>
            <a:r>
              <a:rPr sz="14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ang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≥ τ 그리고 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J</a:t>
            </a:r>
            <a:r>
              <a:rPr sz="14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ang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/ 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J</a:t>
            </a:r>
            <a:r>
              <a:rPr sz="1400" b="0" i="0" lang="ko-KR" altLang="en-US" baseline="-25000">
                <a:solidFill>
                  <a:srgbClr val="1F2933"/>
                </a:solidFill>
                <a:latin typeface="Malgun Gothic"/>
                <a:ea typeface="Malgun Gothic"/>
              </a:rPr>
              <a:t>met</a:t>
            </a: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 ≥ κ</a:t>
            </a:r>
          </a:p>
          <a:p>
            <a:pPr algn="l" marL="228600" indent="-228600">
              <a:lnSpc>
                <a:spcPct val="110000"/>
              </a:lnSpc>
              <a:spcAft>
                <a:spcPts val="800"/>
              </a:spcAft>
              <a:buFont typeface="Arial"/>
              <a:buChar char="•"/>
            </a:pPr>
            <a:r>
              <a:rPr sz="14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16개 설정: θc ∈ {45, 90}° × R ∈ {800, 1600} m × τ ∈ {0.1, 0.2} × κ ∈ {1.0, 1.25}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0" y="4709160"/>
            <a:ext cx="5029200" cy="137160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766560" y="4828032"/>
            <a:ext cx="46634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2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예시 격자: 가까운 쌍은 가까워서 겹칠 뿐(비율 0.41), 같은 길 위의 먼 쌍은 적게 꺾는 생활권을 계속 공유(비율 1.25).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 그래프에서 강건한 묶음으로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34440"/>
          <a:ext cx="603504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6858000" y="1371600"/>
            <a:ext cx="4846320" cy="4846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 lang="ko-KR" altLang="en-US">
                <a:solidFill>
                  <a:srgbClr val="E07A3F"/>
                </a:solidFill>
                <a:latin typeface="Malgun Gothic"/>
                <a:ea typeface="Malgun Gothic"/>
              </a:rPr>
              <a:t>퍼콜레이션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θ ≥ 45°이고 R ≥ 1.6 km이거나 한 번 꺾기를 허용하면 보로 공원 대부분이 하나로 이어짐; 퀸스·스태튼아일랜드는 훨씬 늦게 이어짐.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커뮤니티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설정마다 Louvain 커뮤니티로 내부가 촘촘한 공원 집합을 찾음 (해상도 γ = 1, 2, 4).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 lang="ko-KR" altLang="en-US">
                <a:solidFill>
                  <a:srgbClr val="2C5F2D"/>
                </a:solidFill>
                <a:latin typeface="Malgun Gothic"/>
                <a:ea typeface="Malgun Gothic"/>
              </a:rPr>
              <a:t>합의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설정 간 동반소속 비율 → 평균 연결 군집(≥ 0.5) → 도보 10분 지름으로 분할.</a:t>
            </a:r>
          </a:p>
          <a:p>
            <a:pPr algn="l">
              <a:lnSpc>
                <a:spcPct val="110000"/>
              </a:lnSpc>
              <a:spcAft>
                <a:spcPts val="1200"/>
              </a:spcAft>
            </a:pPr>
            <a:r>
              <a:rPr sz="1350" b="1" i="0" lang="ko-KR" altLang="en-US">
                <a:solidFill>
                  <a:srgbClr val="C0392B"/>
                </a:solidFill>
                <a:latin typeface="Malgun Gothic"/>
                <a:ea typeface="Malgun Gothic"/>
              </a:rPr>
              <a:t>고립 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IsolationPersistence = 연결이 없는 설정의 비율; 0.8 이상 = 강건 고립.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근접성 검증 (AUC)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6766560" cy="48463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4" name="Rounded Rectangle 3"/>
          <p:cNvSpPr/>
          <p:nvPr/>
        </p:nvSpPr>
        <p:spPr>
          <a:xfrm>
            <a:off x="7589520" y="1371600"/>
            <a:ext cx="4023360" cy="3291840"/>
          </a:xfrm>
          <a:prstGeom prst="roundRect">
            <a:avLst>
              <a:gd name="adj" fmla="val 6000"/>
            </a:avLst>
          </a:prstGeom>
          <a:solidFill>
            <a:srgbClr val="EEF3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818120" y="1554480"/>
            <a:ext cx="3611880" cy="3017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근접성 AUC: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연결된 쌍이 연결되지 않은 쌍보다 가까울 확률; 0.85 초과 = 근접성 지배.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결과: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거리를 탐색 한계 안으로 고정하면 어떤 정의도 0.85를 넘지 않음.</a:t>
            </a:r>
          </a:p>
          <a:p>
            <a:pPr algn="l">
              <a:lnSpc>
                <a:spcPct val="110000"/>
              </a:lnSpc>
              <a:spcAft>
                <a:spcPts val="1000"/>
              </a:spcAft>
            </a:pPr>
            <a:r>
              <a:rPr sz="135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Spearman </a:t>
            </a:r>
            <a:r>
              <a:rPr sz="135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(각도 비용 vs 네트워크 거리) ≈ 0.55.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47472"/>
            <a:ext cx="110642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2800" b="1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한계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371600"/>
            <a:ext cx="11064240" cy="5029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퍼콜레이션: 한 번 꺾기를 허용하면 보로 공원 대부분이 이어짐 — 묶음은 엄격한 설정과 커뮤니티 탐지에 의존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꺾임 비용에 세그먼트 내부 굴곡 포함(한 번 꺾음 ≈ 90–100°) → θ = 90°는 엄격한 기준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OSM 완전성과 표기 방식(보도 별도 표기)이 각도 비용에 영향; S 결과는 C와 다름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공원 입구 미상(경계 기반 연결); N2는 C 망만 계산; 긴 선형 공원은 약 400 m 구간으로 분할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D: 200 m 설정만 퍼콜레이션을 피함 → D 묶음은 아주 가까운 공원끼리의 묶음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N1과 N2 묶음이 꽤 비슷함(ARI 0.69) — 같은 길(축) 연결은 적게 꺾는 연결의 더 엄격한 부분집합에 가까움</a:t>
            </a:r>
          </a:p>
          <a:p>
            <a:pPr algn="l" marL="228600" indent="-228600">
              <a:lnSpc>
                <a:spcPct val="110000"/>
              </a:lnSpc>
              <a:spcAft>
                <a:spcPts val="1200"/>
              </a:spcAft>
              <a:buFont typeface="Arial"/>
              <a:buChar char="•"/>
            </a:pPr>
            <a:r>
              <a:rPr sz="1600" b="0" i="0" lang="ko-KR" altLang="en-US">
                <a:solidFill>
                  <a:srgbClr val="1F2933"/>
                </a:solidFill>
                <a:latin typeface="Malgun Gothic"/>
                <a:ea typeface="Malgun Gothic"/>
              </a:rPr>
              <a:t>실제 공원 이용·보행량으로 묶음을 아직 검증하지 않음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