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N1: largest connected component (share of a borough's parks, max over boroughs)</a:t>
            </a:r>
          </a:p>
        </c:rich>
      </c:tx>
      <c:layout/>
      <c:overlay val="0"/>
    </c:title>
    <c:autoTitleDeleted val="0"/>
    <c:plotArea>
      <c:lineChart>
        <c:grouping val="standard"/>
        <c:varyColors val="0"/>
        <c:ser>
          <c:idx val="0"/>
          <c:order val="0"/>
          <c:tx>
            <c:strRef>
              <c:f>Sheet1!$B$1</c:f>
              <c:strCache>
                <c:ptCount val="1"/>
                <c:pt idx="0">
                  <c:v>R = 800 m</c:v>
                </c:pt>
              </c:strCache>
            </c:strRef>
          </c:tx>
          <c:spPr>
            <a:ln w="34925">
              <a:solidFill>
                <a:srgbClr val="97BC62"/>
              </a:solidFill>
            </a:ln>
          </c:spPr>
          <c:marker>
            <c:symbol val="circle"/>
            <c:size val="8"/>
            <c:spPr>
              <a:solidFill>
                <a:srgbClr val="97BC62"/>
              </a:solidFill>
              <a:ln>
                <a:solidFill>
                  <a:srgbClr val="97BC62"/>
                </a:solidFill>
              </a:ln>
            </c:spPr>
          </c:marker>
          <c:cat>
            <c:strRef>
              <c:f>Sheet1!$A$2:$A$5</c:f>
              <c:strCache>
                <c:ptCount val="4"/>
                <c:pt idx="0">
                  <c:v>15°</c:v>
                </c:pt>
                <c:pt idx="1">
                  <c:v>45°</c:v>
                </c:pt>
                <c:pt idx="2">
                  <c:v>90°</c:v>
                </c:pt>
                <c:pt idx="3">
                  <c:v>180°</c:v>
                </c:pt>
              </c:strCache>
            </c:strRef>
          </c:cat>
          <c:val>
            <c:numRef>
              <c:f>Sheet1!$B$2:$B$5</c:f>
              <c:numCache>
                <c:formatCode>General</c:formatCode>
                <c:ptCount val="4"/>
                <c:pt idx="0">
                  <c:v>0.2915717539863325</c:v>
                </c:pt>
                <c:pt idx="1">
                  <c:v>0.357630979498861</c:v>
                </c:pt>
                <c:pt idx="2">
                  <c:v>0.6161879895561357</c:v>
                </c:pt>
                <c:pt idx="3">
                  <c:v>0.9453302961275628</c:v>
                </c:pt>
              </c:numCache>
            </c:numRef>
          </c:val>
          <c:smooth val="0"/>
        </c:ser>
        <c:ser>
          <c:idx val="1"/>
          <c:order val="1"/>
          <c:tx>
            <c:strRef>
              <c:f>Sheet1!$C$1</c:f>
              <c:strCache>
                <c:ptCount val="1"/>
                <c:pt idx="0">
                  <c:v>R = 1600 m</c:v>
                </c:pt>
              </c:strCache>
            </c:strRef>
          </c:tx>
          <c:spPr>
            <a:ln w="34925">
              <a:solidFill>
                <a:srgbClr val="2C5F2D"/>
              </a:solidFill>
            </a:ln>
          </c:spPr>
          <c:marker>
            <c:symbol val="circle"/>
            <c:size val="8"/>
            <c:spPr>
              <a:solidFill>
                <a:srgbClr val="2C5F2D"/>
              </a:solidFill>
              <a:ln>
                <a:solidFill>
                  <a:srgbClr val="2C5F2D"/>
                </a:solidFill>
              </a:ln>
            </c:spPr>
          </c:marker>
          <c:cat>
            <c:strRef>
              <c:f>Sheet1!$A$2:$A$5</c:f>
              <c:strCache>
                <c:ptCount val="4"/>
                <c:pt idx="0">
                  <c:v>15°</c:v>
                </c:pt>
                <c:pt idx="1">
                  <c:v>45°</c:v>
                </c:pt>
                <c:pt idx="2">
                  <c:v>90°</c:v>
                </c:pt>
                <c:pt idx="3">
                  <c:v>180°</c:v>
                </c:pt>
              </c:strCache>
            </c:strRef>
          </c:cat>
          <c:val>
            <c:numRef>
              <c:f>Sheet1!$C$2:$C$5</c:f>
              <c:numCache>
                <c:formatCode>General</c:formatCode>
                <c:ptCount val="4"/>
                <c:pt idx="0">
                  <c:v>0.3052391799544419</c:v>
                </c:pt>
                <c:pt idx="1">
                  <c:v>0.6038647342995169</c:v>
                </c:pt>
                <c:pt idx="2">
                  <c:v>0.8610478359908884</c:v>
                </c:pt>
                <c:pt idx="3">
                  <c:v>0.964573268921095</c:v>
                </c:pt>
              </c:numCache>
            </c:numRef>
          </c:val>
          <c:smooth val="0"/>
        </c:ser>
        <c:ser>
          <c:idx val="2"/>
          <c:order val="2"/>
          <c:tx>
            <c:strRef>
              <c:f>Sheet1!$D$1</c:f>
              <c:strCache>
                <c:ptCount val="1"/>
                <c:pt idx="0">
                  <c:v>R = 3200 m</c:v>
                </c:pt>
              </c:strCache>
            </c:strRef>
          </c:tx>
          <c:spPr>
            <a:ln w="34925">
              <a:solidFill>
                <a:srgbClr val="1B2E25"/>
              </a:solidFill>
            </a:ln>
          </c:spPr>
          <c:marker>
            <c:symbol val="circle"/>
            <c:size val="8"/>
            <c:spPr>
              <a:solidFill>
                <a:srgbClr val="1B2E25"/>
              </a:solidFill>
              <a:ln>
                <a:solidFill>
                  <a:srgbClr val="1B2E25"/>
                </a:solidFill>
              </a:ln>
            </c:spPr>
          </c:marker>
          <c:cat>
            <c:strRef>
              <c:f>Sheet1!$A$2:$A$5</c:f>
              <c:strCache>
                <c:ptCount val="4"/>
                <c:pt idx="0">
                  <c:v>15°</c:v>
                </c:pt>
                <c:pt idx="1">
                  <c:v>45°</c:v>
                </c:pt>
                <c:pt idx="2">
                  <c:v>90°</c:v>
                </c:pt>
                <c:pt idx="3">
                  <c:v>180°</c:v>
                </c:pt>
              </c:strCache>
            </c:strRef>
          </c:cat>
          <c:val>
            <c:numRef>
              <c:f>Sheet1!$D$2:$D$5</c:f>
              <c:numCache>
                <c:formatCode>General</c:formatCode>
                <c:ptCount val="4"/>
                <c:pt idx="0">
                  <c:v>0.3052391799544419</c:v>
                </c:pt>
                <c:pt idx="1">
                  <c:v>0.8132118451025057</c:v>
                </c:pt>
                <c:pt idx="2">
                  <c:v>0.8724373576309795</c:v>
                </c:pt>
                <c:pt idx="3">
                  <c:v>0.9919484702093396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C5BF"/>
            </a:solidFill>
          </a:ln>
        </c:spPr>
        <c:crossAx val="2140495176"/>
        <c:crosses val="autoZero"/>
        <c:auto val="1"/>
        <c:lblAlgn val="ctr"/>
        <c:lblOffset val="100"/>
        <c:noMultiLvlLbl val="0"/>
      </c:catAx>
      <c:valAx>
        <c:axId val="2140495176"/>
        <c:scaling>
          <c:max val="1.0"/>
          <c:min val="0.0"/>
        </c:scaling>
        <c:delete val="0"/>
        <c:axPos val="l"/>
        <c:majorGridlines>
          <c:spPr>
            <a:ln>
              <a:solidFill>
                <a:srgbClr val="E3E6E1"/>
              </a:solidFill>
            </a:ln>
          </c:spPr>
        </c:majorGridlines>
        <c:numFmt formatCode="0%" sourceLinked="0"/>
        <c:majorTickMark val="out"/>
        <c:minorTickMark val="none"/>
        <c:tickLblPos val="nextTo"/>
        <c:spPr>
          <a:ln>
            <a:noFill/>
          </a:ln>
        </c:spPr>
        <c:crossAx val="2118791784"/>
        <c:crosses val="autoZero"/>
      </c:valAx>
    </c:plotArea>
    <c:legend>
      <c:legendPos val="b"/>
      <c:layout/>
      <c:overlay val="0"/>
    </c:legend>
    <c:plotVisOnly val="1"/>
    <c:dispBlanksAs val="gap"/>
    <c:showDLblsOverMax val="0"/>
  </c:chart>
  <c:txPr>
    <a:bodyPr/>
    <a:lstStyle/>
    <a:p>
      <a:pPr>
        <a:defRPr sz="12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Within the search bound R (verdict)</c:v>
                </c:pt>
              </c:strCache>
            </c:strRef>
          </c:tx>
          <c:spPr>
            <a:solidFill>
              <a:srgbClr val="2C5F2D"/>
            </a:solidFill>
          </c:spPr>
          <c:cat>
            <c:strRef>
              <c:f>Sheet1!$A$2:$A$5</c:f>
              <c:strCache>
                <c:ptCount val="4"/>
                <c:pt idx="0">
                  <c:v>N1 few-turn</c:v>
                </c:pt>
                <c:pt idx="1">
                  <c:v>N1rel (relative)</c:v>
                </c:pt>
                <c:pt idx="2">
                  <c:v>N2 corridor</c:v>
                </c:pt>
                <c:pt idx="3">
                  <c:v>N3 field</c:v>
                </c:pt>
              </c:strCache>
            </c:strRef>
          </c:cat>
          <c:val>
            <c:numRef>
              <c:f>Sheet1!$B$2:$B$5</c:f>
              <c:numCache>
                <c:formatCode>General</c:formatCode>
                <c:ptCount val="4"/>
                <c:pt idx="0">
                  <c:v>0.77692641411823</c:v>
                </c:pt>
                <c:pt idx="1">
                  <c:v>0.5956936391552188</c:v>
                </c:pt>
                <c:pt idx="2">
                  <c:v>0.6982146198098556</c:v>
                </c:pt>
                <c:pt idx="3">
                  <c:v>0.729018732415785</c:v>
                </c:pt>
              </c:numCache>
            </c:numRef>
          </c:val>
        </c:ser>
        <c:ser>
          <c:idx val="1"/>
          <c:order val="1"/>
          <c:tx>
            <c:strRef>
              <c:f>Sheet1!$C$1</c:f>
              <c:strCache>
                <c:ptCount val="1"/>
                <c:pt idx="0">
                  <c:v>All pairs ≤ 3.2 km</c:v>
                </c:pt>
              </c:strCache>
            </c:strRef>
          </c:tx>
          <c:spPr>
            <a:solidFill>
              <a:srgbClr val="C9D6C2"/>
            </a:solidFill>
          </c:spPr>
          <c:cat>
            <c:strRef>
              <c:f>Sheet1!$A$2:$A$5</c:f>
              <c:strCache>
                <c:ptCount val="4"/>
                <c:pt idx="0">
                  <c:v>N1 few-turn</c:v>
                </c:pt>
                <c:pt idx="1">
                  <c:v>N1rel (relative)</c:v>
                </c:pt>
                <c:pt idx="2">
                  <c:v>N2 corridor</c:v>
                </c:pt>
                <c:pt idx="3">
                  <c:v>N3 field</c:v>
                </c:pt>
              </c:strCache>
            </c:strRef>
          </c:cat>
          <c:val>
            <c:numRef>
              <c:f>Sheet1!$C$2:$C$5</c:f>
              <c:numCache>
                <c:formatCode>General</c:formatCode>
                <c:ptCount val="4"/>
                <c:pt idx="0">
                  <c:v>0.944083812051425</c:v>
                </c:pt>
                <c:pt idx="1">
                  <c:v>0.5956936391552188</c:v>
                </c:pt>
                <c:pt idx="2">
                  <c:v>0.6982146198098556</c:v>
                </c:pt>
                <c:pt idx="3">
                  <c:v>0.8537234049895721</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
          <c:min val="0.5"/>
        </c:scaling>
        <c:delete val="0"/>
        <c:axPos val="l"/>
        <c:majorGridlines>
          <c:spPr>
            <a:ln>
              <a:solidFill>
                <a:srgbClr val="E3E6E1"/>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2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Parks isolated under all three definitions (125)</a:t>
            </a:r>
          </a:p>
        </c:rich>
      </c:tx>
      <c:layout/>
      <c:overlay val="0"/>
    </c:title>
    <c:autoTitleDeleted val="0"/>
    <c:plotArea>
      <c:barChart>
        <c:barDir val="bar"/>
        <c:grouping val="clustered"/>
        <c:ser>
          <c:idx val="0"/>
          <c:order val="0"/>
          <c:tx>
            <c:strRef>
              <c:f>Sheet1!$B$1</c:f>
              <c:strCache>
                <c:ptCount val="1"/>
                <c:pt idx="0">
                  <c:v>Isolated in N1, N2 and N3</c:v>
                </c:pt>
              </c:strCache>
            </c:strRef>
          </c:tx>
          <c:spPr>
            <a:solidFill>
              <a:srgbClr val="C0392B"/>
            </a:solidFill>
          </c:spPr>
          <c:cat>
            <c:strRef>
              <c:f>Sheet1!$A$2:$A$6</c:f>
              <c:strCache>
                <c:ptCount val="5"/>
                <c:pt idx="0">
                  <c:v>Manhattan</c:v>
                </c:pt>
                <c:pt idx="1">
                  <c:v>Bronx</c:v>
                </c:pt>
                <c:pt idx="2">
                  <c:v>Brooklyn</c:v>
                </c:pt>
                <c:pt idx="3">
                  <c:v>Queens</c:v>
                </c:pt>
                <c:pt idx="4">
                  <c:v>Staten Island</c:v>
                </c:pt>
              </c:strCache>
            </c:strRef>
          </c:cat>
          <c:val>
            <c:numRef>
              <c:f>Sheet1!$B$2:$B$6</c:f>
              <c:numCache>
                <c:formatCode>General</c:formatCode>
                <c:ptCount val="5"/>
                <c:pt idx="0">
                  <c:v>16</c:v>
                </c:pt>
                <c:pt idx="1">
                  <c:v>10</c:v>
                </c:pt>
                <c:pt idx="2">
                  <c:v>14</c:v>
                </c:pt>
                <c:pt idx="3">
                  <c:v>48</c:v>
                </c:pt>
                <c:pt idx="4">
                  <c:v>37</c:v>
                </c:pt>
              </c:numCache>
            </c:numRef>
          </c:val>
        </c:ser>
        <c:dLbls>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C5BF"/>
            </a:solid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Space-Syntax-inspired analysis of NYC parks. Parks are nodes; edges are angular (configurational) relations computed on the pedestrian network with Cityseer simplest-path (angular) routines. Colours on the map = N1 groups (γ=2).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 (R) is used only as a computational search bound. Edges are defined by angular cost (N1), co-membership in a high-choice angular corridor (N2), or excess overlap of few-turn catchments (N3).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OSM rebuilt with a custom walk filter (keeping streets tagged sidewalk=separate), NYC + 3.2 km buffer, retain_all=True. Linear parks split so a single multi-km parkway cannot chain distant parks together; pieces of the same park are never linked.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Alternatives compared in STEP 3: boundary sampling every 25 m (misses short frontages) and centroid-nearest segment (one point, often an internal path). The ring buffer with frontage rule was chosen.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NetworkStructure.dijkstra_tree_simplest(src, max_seconds=3200, speed=1 m/s) returns simpl_dist (degrees) and agg_seconds (= path length in metres). Synthetic tests in STEP 2: straight 0°, L-turn 90°, quarter arc 90°, sidewalk crossing 180°, symmetric.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B_i = attachment segments of park i; sources are the K=8 farthest-point-sampled segments. A_ij is symmetrised as min(A_ij, A_ji). Robust variant requires at least two attachment pairs meeting the threshold. Measured one-turn routes cost ~90–100° because bends inside segments are counted, so θ = 90° only admits near-orthogonal single turns.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angular field shows the minimum angular cost from one park's source segments: streets fronting the park stay near 0° for kilometres, one turn gives ~90°. This field is what N1 thresholds.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 group = parks that share a Louvain community in most non-percolating settings (average co-membership ≥ 0.5), split so that every pair is within a 10-minute walk. Dashed lines = group hulls; orange lines = park relations present in ≥ 50% of settings and within 10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consensus procedure at three resolutions. Higher γ splits large neighbourhood groups into block-scale groups; isolation persistence does not change with 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choice is density-inflated (Manhattan dominates), hence the NACH-like normalisation. Stroke-level membership avoids the giant-component collapse of 'same backbone component'. Computed on network C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lines = corridor strokes (top 5% NACH-1600 by length). N2 groups are long by design: they follow corridors.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'similar centrality features' (not a relation) with a relational, configurational overlap measure; the metric ratio controls for proximity.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anticipated in the research design, the field-overlap definition is the weakest; it is retained as a contrast.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groups use only the 9 settings whose largest component holds &lt; 50% of the parks of every borough (R1600 th15 best, R1600 th15 rob, R3200 th15 best, R3200 th15 rob, R800 th15 best, R800 th15 rob, R800 th45 best, R800 th45 rob, R800 th90 rob). All 24 settings are still used for isolation persistence. Percolation is measured per borough because water barriers dilute the citywide share.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17 parks formed one configurational group spanning 2.2 km on foot; the 10-minute cap splits it into 5 walkable groups and drops 1 parks with no partner within 10 minutes. Distance is a safeguard, not the relation.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'all pairs' AUC for N1 is inflated mechanically: with R = 800 m every edge is shorter than 800 m by construction. Spearman(A, network distance) ≈ 0.55.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Isolated in all = robust isolated (≥ 0.8) in N1, N2 and N3. N2/N3 isolation is common by construction, so the N1 status is the key filter.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Outputs: outputs/NYC/geojson (parks/groups/edges per definition), outputs/NYC/regroup/map_final_groups.html.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chart" Target="../charts/char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E25"/>
        </a:solidFill>
        <a:effectLst/>
      </p:bgPr>
    </p:bg>
    <p:spTree>
      <p:nvGrpSpPr>
        <p:cNvPr id="1" name=""/>
        <p:cNvGrpSpPr/>
        <p:nvPr/>
      </p:nvGrpSpPr>
      <p:grpSpPr/>
      <p:sp>
        <p:nvSpPr>
          <p:cNvPr id="2" name="TextBox 1"/>
          <p:cNvSpPr txBox="1"/>
          <p:nvPr/>
        </p:nvSpPr>
        <p:spPr>
          <a:xfrm>
            <a:off x="640080" y="1097280"/>
            <a:ext cx="6035040" cy="2103120"/>
          </a:xfrm>
          <a:prstGeom prst="rect">
            <a:avLst/>
          </a:prstGeom>
          <a:noFill/>
        </p:spPr>
        <p:txBody>
          <a:bodyPr wrap="square" anchor="t" lIns="0" rIns="0" tIns="0" bIns="0">
            <a:spAutoFit/>
          </a:bodyPr>
          <a:lstStyle/>
          <a:p>
            <a:pPr algn="l">
              <a:lnSpc>
                <a:spcPct val="100000"/>
              </a:lnSpc>
              <a:spcAft>
                <a:spcPts val="0"/>
              </a:spcAft>
            </a:pPr>
            <a:r>
              <a:rPr sz="4000" b="1" i="0">
                <a:solidFill>
                  <a:srgbClr val="FFFFFF"/>
                </a:solidFill>
                <a:latin typeface="Cambria"/>
              </a:rPr>
              <a:t>Configurational</a:t>
            </a:r>
          </a:p>
          <a:p>
            <a:pPr algn="l">
              <a:lnSpc>
                <a:spcPct val="100000"/>
              </a:lnSpc>
              <a:spcAft>
                <a:spcPts val="0"/>
              </a:spcAft>
            </a:pPr>
            <a:r>
              <a:rPr sz="4000" b="1" i="0">
                <a:solidFill>
                  <a:srgbClr val="FFFFFF"/>
                </a:solidFill>
                <a:latin typeface="Cambria"/>
              </a:rPr>
              <a:t>Park Networks</a:t>
            </a:r>
          </a:p>
          <a:p>
            <a:pPr algn="l">
              <a:lnSpc>
                <a:spcPct val="100000"/>
              </a:lnSpc>
              <a:spcAft>
                <a:spcPts val="0"/>
              </a:spcAft>
            </a:pPr>
            <a:r>
              <a:rPr sz="4000" b="1" i="0">
                <a:solidFill>
                  <a:srgbClr val="FFFFFF"/>
                </a:solidFill>
                <a:latin typeface="Cambria"/>
              </a:rPr>
              <a:t>in New York City</a:t>
            </a:r>
          </a:p>
        </p:txBody>
      </p:sp>
      <p:sp>
        <p:nvSpPr>
          <p:cNvPr id="3" name="TextBox 2"/>
          <p:cNvSpPr txBox="1"/>
          <p:nvPr/>
        </p:nvSpPr>
        <p:spPr>
          <a:xfrm>
            <a:off x="640080" y="3520440"/>
            <a:ext cx="5669280" cy="914400"/>
          </a:xfrm>
          <a:prstGeom prst="rect">
            <a:avLst/>
          </a:prstGeom>
          <a:noFill/>
        </p:spPr>
        <p:txBody>
          <a:bodyPr wrap="square" anchor="t" lIns="0" rIns="0" tIns="0" bIns="0">
            <a:spAutoFit/>
          </a:bodyPr>
          <a:lstStyle/>
          <a:p>
            <a:pPr algn="l">
              <a:lnSpc>
                <a:spcPct val="108000"/>
              </a:lnSpc>
              <a:spcAft>
                <a:spcPts val="600"/>
              </a:spcAft>
            </a:pPr>
            <a:r>
              <a:rPr sz="1700" b="0" i="0">
                <a:solidFill>
                  <a:srgbClr val="97BC62"/>
                </a:solidFill>
                <a:latin typeface="Calibri"/>
              </a:rPr>
              <a:t>Which parks are linked by the street configuration — few-turn routes, shared corridors, shared fields — rather than by mere proximity?</a:t>
            </a:r>
          </a:p>
        </p:txBody>
      </p:sp>
      <p:sp>
        <p:nvSpPr>
          <p:cNvPr id="4" name="TextBox 3"/>
          <p:cNvSpPr txBox="1"/>
          <p:nvPr/>
        </p:nvSpPr>
        <p:spPr>
          <a:xfrm>
            <a:off x="640080" y="4892040"/>
            <a:ext cx="5669280" cy="822960"/>
          </a:xfrm>
          <a:prstGeom prst="rect">
            <a:avLst/>
          </a:prstGeom>
          <a:noFill/>
        </p:spPr>
        <p:txBody>
          <a:bodyPr wrap="square" anchor="t" lIns="0" rIns="0" tIns="0" bIns="0">
            <a:spAutoFit/>
          </a:bodyPr>
          <a:lstStyle/>
          <a:p>
            <a:pPr algn="l">
              <a:lnSpc>
                <a:spcPct val="108000"/>
              </a:lnSpc>
              <a:spcAft>
                <a:spcPts val="400"/>
              </a:spcAft>
            </a:pPr>
            <a:r>
              <a:rPr sz="1200" b="0" i="0">
                <a:solidFill>
                  <a:srgbClr val="B8C7B5"/>
                </a:solidFill>
                <a:latin typeface="Calibri"/>
              </a:rPr>
              <a:t>2,057 park features · OSM pedestrian network · Cityseer 5.8 angular analysis</a:t>
            </a:r>
          </a:p>
          <a:p>
            <a:pPr algn="l">
              <a:lnSpc>
                <a:spcPct val="108000"/>
              </a:lnSpc>
              <a:spcAft>
                <a:spcPts val="400"/>
              </a:spcAft>
            </a:pPr>
            <a:r>
              <a:rPr sz="1200" b="0" i="0">
                <a:solidFill>
                  <a:srgbClr val="B8C7B5"/>
                </a:solidFill>
                <a:latin typeface="Calibri"/>
              </a:rPr>
              <a:t>October 2026</a:t>
            </a:r>
          </a:p>
        </p:txBody>
      </p:sp>
      <p:pic>
        <p:nvPicPr>
          <p:cNvPr id="5" name="Picture 4" descr="title_map.png"/>
          <p:cNvPicPr>
            <a:picLocks noChangeAspect="1"/>
          </p:cNvPicPr>
          <p:nvPr/>
        </p:nvPicPr>
        <p:blipFill>
          <a:blip r:embed="rId2"/>
          <a:stretch>
            <a:fillRect/>
          </a:stretch>
        </p:blipFill>
        <p:spPr>
          <a:xfrm>
            <a:off x="6858000" y="795829"/>
            <a:ext cx="5029200" cy="526634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Not proximity: parks related through street configuration</a:t>
            </a:r>
          </a:p>
        </p:txBody>
      </p:sp>
      <p:sp>
        <p:nvSpPr>
          <p:cNvPr id="3" name="TextBox 2"/>
          <p:cNvSpPr txBox="1"/>
          <p:nvPr/>
        </p:nvSpPr>
        <p:spPr>
          <a:xfrm>
            <a:off x="548640" y="1371600"/>
            <a:ext cx="5120640" cy="2926080"/>
          </a:xfrm>
          <a:prstGeom prst="rect">
            <a:avLst/>
          </a:prstGeom>
          <a:noFill/>
        </p:spPr>
        <p:txBody>
          <a:bodyPr wrap="square" anchor="t" lIns="0" rIns="0" tIns="0" bIns="0">
            <a:spAutoFit/>
          </a:bodyPr>
          <a:lstStyle/>
          <a:p>
            <a:pPr algn="l">
              <a:lnSpc>
                <a:spcPct val="108000"/>
              </a:lnSpc>
              <a:spcAft>
                <a:spcPts val="700"/>
              </a:spcAft>
            </a:pPr>
            <a:r>
              <a:rPr sz="1450" b="1" i="0">
                <a:solidFill>
                  <a:srgbClr val="2C5F2D"/>
                </a:solidFill>
                <a:latin typeface="Calibri"/>
              </a:rPr>
              <a:t>Question  </a:t>
            </a:r>
            <a:r>
              <a:rPr sz="1450" b="0" i="0">
                <a:solidFill>
                  <a:srgbClr val="1F2933"/>
                </a:solidFill>
                <a:latin typeface="Calibri"/>
              </a:rPr>
              <a:t>Which small &amp; medium parks form configurational groups, and which remain isolated?</a:t>
            </a:r>
          </a:p>
          <a:p>
            <a:pPr algn="l">
              <a:lnSpc>
                <a:spcPct val="108000"/>
              </a:lnSpc>
              <a:spcAft>
                <a:spcPts val="700"/>
              </a:spcAft>
            </a:pPr>
            <a:r>
              <a:rPr sz="1450" b="1" i="0">
                <a:solidFill>
                  <a:srgbClr val="2C5F2D"/>
                </a:solidFill>
                <a:latin typeface="Calibri"/>
              </a:rPr>
              <a:t>Principle  </a:t>
            </a:r>
            <a:r>
              <a:rPr sz="1450" b="0" i="0">
                <a:solidFill>
                  <a:srgbClr val="1F2933"/>
                </a:solidFill>
                <a:latin typeface="Calibri"/>
              </a:rPr>
              <a:t>Distance is only a search bound; the edge itself is angular / syntactic.</a:t>
            </a:r>
          </a:p>
          <a:p>
            <a:pPr algn="l">
              <a:lnSpc>
                <a:spcPct val="108000"/>
              </a:lnSpc>
              <a:spcAft>
                <a:spcPts val="700"/>
              </a:spcAft>
            </a:pPr>
            <a:r>
              <a:rPr sz="1450" b="1" i="0">
                <a:solidFill>
                  <a:srgbClr val="2C5F2D"/>
                </a:solidFill>
                <a:latin typeface="Calibri"/>
              </a:rPr>
              <a:t>Three definitions  </a:t>
            </a:r>
            <a:r>
              <a:rPr sz="1450" b="0" i="0">
                <a:solidFill>
                  <a:srgbClr val="1F2933"/>
                </a:solidFill>
                <a:latin typeface="Calibri"/>
              </a:rPr>
              <a:t>N1 few-turn routes · N2 shared corridor · N3 shared few-turn field.</a:t>
            </a:r>
          </a:p>
          <a:p>
            <a:pPr algn="l">
              <a:lnSpc>
                <a:spcPct val="108000"/>
              </a:lnSpc>
              <a:spcAft>
                <a:spcPts val="700"/>
              </a:spcAft>
            </a:pPr>
            <a:r>
              <a:rPr sz="1450" b="1" i="0">
                <a:solidFill>
                  <a:srgbClr val="2C5F2D"/>
                </a:solidFill>
                <a:latin typeface="Calibri"/>
              </a:rPr>
              <a:t>Robustness  </a:t>
            </a:r>
            <a:r>
              <a:rPr sz="1450" b="0" i="0">
                <a:solidFill>
                  <a:srgbClr val="1F2933"/>
                </a:solidFill>
                <a:latin typeface="Calibri"/>
              </a:rPr>
              <a:t>Every definition is a grid of parameter settings; groups and isolation are what persists across them.</a:t>
            </a:r>
          </a:p>
          <a:p>
            <a:pPr algn="l">
              <a:lnSpc>
                <a:spcPct val="108000"/>
              </a:lnSpc>
              <a:spcAft>
                <a:spcPts val="700"/>
              </a:spcAft>
            </a:pPr>
            <a:r>
              <a:rPr sz="1450" b="1" i="0">
                <a:solidFill>
                  <a:srgbClr val="2C5F2D"/>
                </a:solidFill>
                <a:latin typeface="Calibri"/>
              </a:rPr>
              <a:t>Walkable  </a:t>
            </a:r>
            <a:r>
              <a:rPr sz="1450" b="0" i="0">
                <a:solidFill>
                  <a:srgbClr val="1F2933"/>
                </a:solidFill>
                <a:latin typeface="Calibri"/>
              </a:rPr>
              <a:t>Every pair of parks in a group is within a 10-minute walk (800 m).</a:t>
            </a:r>
          </a:p>
        </p:txBody>
      </p:sp>
      <p:sp>
        <p:nvSpPr>
          <p:cNvPr id="4" name="Rounded Rectangle 3"/>
          <p:cNvSpPr/>
          <p:nvPr/>
        </p:nvSpPr>
        <p:spPr>
          <a:xfrm>
            <a:off x="6035040" y="1371600"/>
            <a:ext cx="5577840" cy="29260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309360" y="1600200"/>
            <a:ext cx="566928" cy="566928"/>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N1</a:t>
            </a:r>
          </a:p>
        </p:txBody>
      </p:sp>
      <p:sp>
        <p:nvSpPr>
          <p:cNvPr id="6" name="TextBox 5"/>
          <p:cNvSpPr txBox="1"/>
          <p:nvPr/>
        </p:nvSpPr>
        <p:spPr>
          <a:xfrm>
            <a:off x="7040880" y="1581912"/>
            <a:ext cx="4389120" cy="77724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Angular few-turn</a:t>
            </a:r>
          </a:p>
          <a:p>
            <a:pPr algn="l">
              <a:lnSpc>
                <a:spcPct val="108000"/>
              </a:lnSpc>
              <a:spcAft>
                <a:spcPts val="200"/>
              </a:spcAft>
            </a:pPr>
            <a:r>
              <a:rPr sz="1300" b="0" i="0">
                <a:solidFill>
                  <a:srgbClr val="5F6B73"/>
                </a:solidFill>
                <a:latin typeface="Calibri"/>
              </a:rPr>
              <a:t>total turning on the simplest route ≤ θ</a:t>
            </a:r>
          </a:p>
        </p:txBody>
      </p:sp>
      <p:sp>
        <p:nvSpPr>
          <p:cNvPr id="7" name="Oval 6"/>
          <p:cNvSpPr/>
          <p:nvPr/>
        </p:nvSpPr>
        <p:spPr>
          <a:xfrm>
            <a:off x="6309360" y="2496312"/>
            <a:ext cx="566928" cy="566928"/>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N2</a:t>
            </a:r>
          </a:p>
        </p:txBody>
      </p:sp>
      <p:sp>
        <p:nvSpPr>
          <p:cNvPr id="8" name="TextBox 7"/>
          <p:cNvSpPr txBox="1"/>
          <p:nvPr/>
        </p:nvSpPr>
        <p:spPr>
          <a:xfrm>
            <a:off x="7040880" y="2478024"/>
            <a:ext cx="4389120" cy="77724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Shared corridor</a:t>
            </a:r>
          </a:p>
          <a:p>
            <a:pPr algn="l">
              <a:lnSpc>
                <a:spcPct val="108000"/>
              </a:lnSpc>
              <a:spcAft>
                <a:spcPts val="200"/>
              </a:spcAft>
            </a:pPr>
            <a:r>
              <a:rPr sz="1300" b="0" i="0">
                <a:solidFill>
                  <a:srgbClr val="5F6B73"/>
                </a:solidFill>
                <a:latin typeface="Calibri"/>
              </a:rPr>
              <a:t>both parks on the same high-NACH stroke</a:t>
            </a:r>
          </a:p>
        </p:txBody>
      </p:sp>
      <p:sp>
        <p:nvSpPr>
          <p:cNvPr id="9" name="Oval 8"/>
          <p:cNvSpPr/>
          <p:nvPr/>
        </p:nvSpPr>
        <p:spPr>
          <a:xfrm>
            <a:off x="6309360" y="3392424"/>
            <a:ext cx="566928" cy="566928"/>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N3</a:t>
            </a:r>
          </a:p>
        </p:txBody>
      </p:sp>
      <p:sp>
        <p:nvSpPr>
          <p:cNvPr id="10" name="TextBox 9"/>
          <p:cNvSpPr txBox="1"/>
          <p:nvPr/>
        </p:nvSpPr>
        <p:spPr>
          <a:xfrm>
            <a:off x="7040880" y="3374136"/>
            <a:ext cx="4389120" cy="77724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Field overlap</a:t>
            </a:r>
          </a:p>
          <a:p>
            <a:pPr algn="l">
              <a:lnSpc>
                <a:spcPct val="108000"/>
              </a:lnSpc>
              <a:spcAft>
                <a:spcPts val="200"/>
              </a:spcAft>
            </a:pPr>
            <a:r>
              <a:rPr sz="1300" b="0" i="0">
                <a:solidFill>
                  <a:srgbClr val="5F6B73"/>
                </a:solidFill>
                <a:latin typeface="Calibri"/>
              </a:rPr>
              <a:t>few-turn catchments overlap more than distance predicts</a:t>
            </a:r>
          </a:p>
        </p:txBody>
      </p:sp>
      <p:sp>
        <p:nvSpPr>
          <p:cNvPr id="11" name="Rounded Rectangle 10"/>
          <p:cNvSpPr/>
          <p:nvPr/>
        </p:nvSpPr>
        <p:spPr>
          <a:xfrm>
            <a:off x="548640" y="4800600"/>
            <a:ext cx="1627632" cy="1051560"/>
          </a:xfrm>
          <a:prstGeom prst="roundRect">
            <a:avLst>
              <a:gd name="adj" fmla="val 6000"/>
            </a:avLst>
          </a:prstGeom>
          <a:solidFill>
            <a:srgbClr val="FFFFFF"/>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C5F2D"/>
                </a:solidFill>
                <a:latin typeface="Calibri"/>
              </a:rPr>
              <a:t>OSM pedestrian network (C / S)</a:t>
            </a:r>
          </a:p>
        </p:txBody>
      </p:sp>
      <p:sp>
        <p:nvSpPr>
          <p:cNvPr id="12" name="Right Arrow 11"/>
          <p:cNvSpPr/>
          <p:nvPr/>
        </p:nvSpPr>
        <p:spPr>
          <a:xfrm>
            <a:off x="2212848" y="5212080"/>
            <a:ext cx="192024" cy="228600"/>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41448" y="4800600"/>
            <a:ext cx="1627632" cy="1051560"/>
          </a:xfrm>
          <a:prstGeom prst="roundRect">
            <a:avLst>
              <a:gd name="adj" fmla="val 6000"/>
            </a:avLst>
          </a:prstGeom>
          <a:solidFill>
            <a:srgbClr val="FFFFFF"/>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C5F2D"/>
                </a:solidFill>
                <a:latin typeface="Calibri"/>
              </a:rPr>
              <a:t>Cityseer dual graph</a:t>
            </a:r>
          </a:p>
        </p:txBody>
      </p:sp>
      <p:sp>
        <p:nvSpPr>
          <p:cNvPr id="14" name="Right Arrow 13"/>
          <p:cNvSpPr/>
          <p:nvPr/>
        </p:nvSpPr>
        <p:spPr>
          <a:xfrm>
            <a:off x="4105656" y="5212080"/>
            <a:ext cx="192024" cy="228600"/>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34255" y="4800600"/>
            <a:ext cx="1627632" cy="1051560"/>
          </a:xfrm>
          <a:prstGeom prst="roundRect">
            <a:avLst>
              <a:gd name="adj" fmla="val 6000"/>
            </a:avLst>
          </a:prstGeom>
          <a:solidFill>
            <a:srgbClr val="FFFFFF"/>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C5F2D"/>
                </a:solidFill>
                <a:latin typeface="Calibri"/>
              </a:rPr>
              <a:t>Park attachment (no entrances)</a:t>
            </a:r>
          </a:p>
        </p:txBody>
      </p:sp>
      <p:sp>
        <p:nvSpPr>
          <p:cNvPr id="16" name="Right Arrow 15"/>
          <p:cNvSpPr/>
          <p:nvPr/>
        </p:nvSpPr>
        <p:spPr>
          <a:xfrm>
            <a:off x="5998464" y="5212080"/>
            <a:ext cx="192024" cy="228600"/>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27063" y="4800600"/>
            <a:ext cx="1627632" cy="105156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Angular relations &amp; centrality</a:t>
            </a:r>
          </a:p>
        </p:txBody>
      </p:sp>
      <p:sp>
        <p:nvSpPr>
          <p:cNvPr id="18" name="Right Arrow 17"/>
          <p:cNvSpPr/>
          <p:nvPr/>
        </p:nvSpPr>
        <p:spPr>
          <a:xfrm>
            <a:off x="7891271" y="5212080"/>
            <a:ext cx="192024" cy="228600"/>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19871" y="4800600"/>
            <a:ext cx="1627632" cy="105156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Park graphs N1 · N2 · N3</a:t>
            </a:r>
          </a:p>
        </p:txBody>
      </p:sp>
      <p:sp>
        <p:nvSpPr>
          <p:cNvPr id="20" name="Right Arrow 19"/>
          <p:cNvSpPr/>
          <p:nvPr/>
        </p:nvSpPr>
        <p:spPr>
          <a:xfrm>
            <a:off x="9784079" y="5212080"/>
            <a:ext cx="192024" cy="228600"/>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12680" y="4800600"/>
            <a:ext cx="1627632" cy="1051560"/>
          </a:xfrm>
          <a:prstGeom prst="roundRect">
            <a:avLst>
              <a:gd name="adj" fmla="val 6000"/>
            </a:avLst>
          </a:prstGeom>
          <a:solidFill>
            <a:srgbClr val="FFFFFF"/>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C5F2D"/>
                </a:solidFill>
                <a:latin typeface="Calibri"/>
              </a:rPr>
              <a:t>Persistence &amp; robust groups</a:t>
            </a:r>
          </a:p>
        </p:txBody>
      </p:sp>
      <p:sp>
        <p:nvSpPr>
          <p:cNvPr id="22" name="TextBox 21"/>
          <p:cNvSpPr txBox="1"/>
          <p:nvPr/>
        </p:nvSpPr>
        <p:spPr>
          <a:xfrm>
            <a:off x="548640" y="5989320"/>
            <a:ext cx="11064240" cy="365760"/>
          </a:xfrm>
          <a:prstGeom prst="rect">
            <a:avLst/>
          </a:prstGeom>
          <a:noFill/>
        </p:spPr>
        <p:txBody>
          <a:bodyPr wrap="square" anchor="t" lIns="0" rIns="0" tIns="0" bIns="0">
            <a:spAutoFit/>
          </a:bodyPr>
          <a:lstStyle/>
          <a:p>
            <a:pPr algn="l">
              <a:lnSpc>
                <a:spcPct val="108000"/>
              </a:lnSpc>
              <a:spcAft>
                <a:spcPts val="600"/>
              </a:spcAft>
            </a:pPr>
            <a:r>
              <a:rPr sz="1100" b="0" i="0">
                <a:solidFill>
                  <a:srgbClr val="5F6B73"/>
                </a:solidFill>
                <a:latin typeface="Calibri"/>
              </a:rPr>
              <a:t>Pipeline implemented as STEP notebooks 02–13 (Cityseer 5.8, OSMnx, GeoPandas, NetworkX).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Data: parks and two pedestrian network representations</a:t>
            </a:r>
          </a:p>
        </p:txBody>
      </p:sp>
      <p:sp>
        <p:nvSpPr>
          <p:cNvPr id="3" name="TextBox 2"/>
          <p:cNvSpPr txBox="1"/>
          <p:nvPr/>
        </p:nvSpPr>
        <p:spPr>
          <a:xfrm>
            <a:off x="548640" y="1371600"/>
            <a:ext cx="329184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1,902</a:t>
            </a:r>
          </a:p>
        </p:txBody>
      </p:sp>
      <p:sp>
        <p:nvSpPr>
          <p:cNvPr id="4" name="TextBox 3"/>
          <p:cNvSpPr txBox="1"/>
          <p:nvPr/>
        </p:nvSpPr>
        <p:spPr>
          <a:xfrm>
            <a:off x="548640" y="2084832"/>
            <a:ext cx="329184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parks analysed (of 2,061): flagship parks, non-park parcels and parks &gt; 100 acres excluded</a:t>
            </a:r>
          </a:p>
        </p:txBody>
      </p:sp>
      <p:sp>
        <p:nvSpPr>
          <p:cNvPr id="5" name="TextBox 4"/>
          <p:cNvSpPr txBox="1"/>
          <p:nvPr/>
        </p:nvSpPr>
        <p:spPr>
          <a:xfrm>
            <a:off x="548640" y="2788920"/>
            <a:ext cx="329184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25 → 180</a:t>
            </a:r>
          </a:p>
        </p:txBody>
      </p:sp>
      <p:sp>
        <p:nvSpPr>
          <p:cNvPr id="6" name="TextBox 5"/>
          <p:cNvSpPr txBox="1"/>
          <p:nvPr/>
        </p:nvSpPr>
        <p:spPr>
          <a:xfrm>
            <a:off x="548640" y="3502152"/>
            <a:ext cx="329184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long linear parks (parkways, malls, esplanades) split into ~400 m pieces</a:t>
            </a:r>
          </a:p>
        </p:txBody>
      </p:sp>
      <p:sp>
        <p:nvSpPr>
          <p:cNvPr id="7" name="TextBox 6"/>
          <p:cNvSpPr txBox="1"/>
          <p:nvPr/>
        </p:nvSpPr>
        <p:spPr>
          <a:xfrm>
            <a:off x="548640" y="4206240"/>
            <a:ext cx="329184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496k</a:t>
            </a:r>
          </a:p>
        </p:txBody>
      </p:sp>
      <p:sp>
        <p:nvSpPr>
          <p:cNvPr id="8" name="TextBox 7"/>
          <p:cNvSpPr txBox="1"/>
          <p:nvPr/>
        </p:nvSpPr>
        <p:spPr>
          <a:xfrm>
            <a:off x="548640" y="4919472"/>
            <a:ext cx="329184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network segments in C (main); 1.02M in S with sidewalks</a:t>
            </a:r>
          </a:p>
        </p:txBody>
      </p:sp>
      <p:pic>
        <p:nvPicPr>
          <p:cNvPr id="9" name="Picture 8" descr="network_S_vs_C.png"/>
          <p:cNvPicPr>
            <a:picLocks noChangeAspect="1"/>
          </p:cNvPicPr>
          <p:nvPr/>
        </p:nvPicPr>
        <p:blipFill>
          <a:blip r:embed="rId2"/>
          <a:stretch>
            <a:fillRect/>
          </a:stretch>
        </p:blipFill>
        <p:spPr>
          <a:xfrm>
            <a:off x="4114800" y="1549125"/>
            <a:ext cx="7589520" cy="4034069"/>
          </a:xfrm>
          <a:prstGeom prst="rect">
            <a:avLst/>
          </a:prstGeom>
        </p:spPr>
      </p:pic>
      <p:sp>
        <p:nvSpPr>
          <p:cNvPr id="10" name="TextBox 9"/>
          <p:cNvSpPr txBox="1"/>
          <p:nvPr/>
        </p:nvSpPr>
        <p:spPr>
          <a:xfrm>
            <a:off x="4114800" y="5897880"/>
            <a:ext cx="7589520" cy="365760"/>
          </a:xfrm>
          <a:prstGeom prst="rect">
            <a:avLst/>
          </a:prstGeom>
          <a:noFill/>
        </p:spPr>
        <p:txBody>
          <a:bodyPr wrap="square" anchor="t" lIns="0" rIns="0" tIns="0" bIns="0">
            <a:spAutoFit/>
          </a:bodyPr>
          <a:lstStyle/>
          <a:p>
            <a:pPr algn="l">
              <a:lnSpc>
                <a:spcPct val="108000"/>
              </a:lnSpc>
              <a:spcAft>
                <a:spcPts val="600"/>
              </a:spcAft>
            </a:pPr>
            <a:r>
              <a:rPr sz="1100" b="0" i="0">
                <a:solidFill>
                  <a:srgbClr val="5F6B73"/>
                </a:solidFill>
                <a:latin typeface="Calibri"/>
              </a:rPr>
              <a:t>S draws sidewalks and crossings separately: parks facing each other across a street are 180° apart. C (street centrelines + pedestrian-only paths) is the Space-Syntax-like segment map used for the main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Attaching parks to the network without entrance data</a:t>
            </a:r>
          </a:p>
        </p:txBody>
      </p:sp>
      <p:pic>
        <p:nvPicPr>
          <p:cNvPr id="3" name="Picture 2" descr="attachment_example.png"/>
          <p:cNvPicPr>
            <a:picLocks noChangeAspect="1"/>
          </p:cNvPicPr>
          <p:nvPr/>
        </p:nvPicPr>
        <p:blipFill>
          <a:blip r:embed="rId2"/>
          <a:stretch>
            <a:fillRect/>
          </a:stretch>
        </p:blipFill>
        <p:spPr>
          <a:xfrm>
            <a:off x="709845" y="1234440"/>
            <a:ext cx="4798229" cy="5120640"/>
          </a:xfrm>
          <a:prstGeom prst="rect">
            <a:avLst/>
          </a:prstGeom>
        </p:spPr>
      </p:pic>
      <p:sp>
        <p:nvSpPr>
          <p:cNvPr id="4" name="Oval 3"/>
          <p:cNvSpPr/>
          <p:nvPr/>
        </p:nvSpPr>
        <p:spPr>
          <a:xfrm>
            <a:off x="6172200" y="1371600"/>
            <a:ext cx="457200" cy="457200"/>
          </a:xfrm>
          <a:prstGeom prst="ellipse">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a:t>
            </a:r>
          </a:p>
        </p:txBody>
      </p:sp>
      <p:sp>
        <p:nvSpPr>
          <p:cNvPr id="5" name="TextBox 4"/>
          <p:cNvSpPr txBox="1"/>
          <p:nvPr/>
        </p:nvSpPr>
        <p:spPr>
          <a:xfrm>
            <a:off x="6812280" y="1335024"/>
            <a:ext cx="4846320" cy="1143000"/>
          </a:xfrm>
          <a:prstGeom prst="rect">
            <a:avLst/>
          </a:prstGeom>
          <a:noFill/>
        </p:spPr>
        <p:txBody>
          <a:bodyPr wrap="square" anchor="t" lIns="0" rIns="0" tIns="0" bIns="0">
            <a:spAutoFit/>
          </a:bodyPr>
          <a:lstStyle/>
          <a:p>
            <a:pPr algn="l">
              <a:lnSpc>
                <a:spcPct val="108000"/>
              </a:lnSpc>
              <a:spcAft>
                <a:spcPts val="200"/>
              </a:spcAft>
            </a:pPr>
            <a:r>
              <a:rPr sz="1600" b="1" i="0">
                <a:solidFill>
                  <a:srgbClr val="1F2933"/>
                </a:solidFill>
                <a:latin typeface="Calibri"/>
              </a:rPr>
              <a:t>Ring buffer</a:t>
            </a:r>
          </a:p>
          <a:p>
            <a:pPr algn="l">
              <a:lnSpc>
                <a:spcPct val="108000"/>
              </a:lnSpc>
              <a:spcAft>
                <a:spcPts val="200"/>
              </a:spcAft>
            </a:pPr>
            <a:r>
              <a:rPr sz="1300" b="0" i="0">
                <a:solidFill>
                  <a:srgbClr val="5F6B73"/>
                </a:solidFill>
                <a:latin typeface="Calibri"/>
              </a:rPr>
              <a:t>Segments within ±20 m of the park boundary (±10 m on S): the first ring of streets around the park.</a:t>
            </a:r>
          </a:p>
        </p:txBody>
      </p:sp>
      <p:sp>
        <p:nvSpPr>
          <p:cNvPr id="6" name="Oval 5"/>
          <p:cNvSpPr/>
          <p:nvPr/>
        </p:nvSpPr>
        <p:spPr>
          <a:xfrm>
            <a:off x="6172200" y="2578608"/>
            <a:ext cx="457200" cy="457200"/>
          </a:xfrm>
          <a:prstGeom prst="ellipse">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2</a:t>
            </a:r>
          </a:p>
        </p:txBody>
      </p:sp>
      <p:sp>
        <p:nvSpPr>
          <p:cNvPr id="7" name="TextBox 6"/>
          <p:cNvSpPr txBox="1"/>
          <p:nvPr/>
        </p:nvSpPr>
        <p:spPr>
          <a:xfrm>
            <a:off x="6812280" y="2542032"/>
            <a:ext cx="4846320" cy="1143000"/>
          </a:xfrm>
          <a:prstGeom prst="rect">
            <a:avLst/>
          </a:prstGeom>
          <a:noFill/>
        </p:spPr>
        <p:txBody>
          <a:bodyPr wrap="square" anchor="t" lIns="0" rIns="0" tIns="0" bIns="0">
            <a:spAutoFit/>
          </a:bodyPr>
          <a:lstStyle/>
          <a:p>
            <a:pPr algn="l">
              <a:lnSpc>
                <a:spcPct val="108000"/>
              </a:lnSpc>
              <a:spcAft>
                <a:spcPts val="200"/>
              </a:spcAft>
            </a:pPr>
            <a:r>
              <a:rPr sz="1600" b="1" i="0">
                <a:solidFill>
                  <a:srgbClr val="1F2933"/>
                </a:solidFill>
                <a:latin typeface="Calibri"/>
              </a:rPr>
              <a:t>Frontage rule</a:t>
            </a:r>
          </a:p>
          <a:p>
            <a:pPr algn="l">
              <a:lnSpc>
                <a:spcPct val="108000"/>
              </a:lnSpc>
              <a:spcAft>
                <a:spcPts val="200"/>
              </a:spcAft>
            </a:pPr>
            <a:r>
              <a:rPr sz="1300" b="0" i="0">
                <a:solidFill>
                  <a:srgbClr val="5F6B73"/>
                </a:solidFill>
                <a:latin typeface="Calibri"/>
              </a:rPr>
              <a:t>Keep a segment only if ≥ 50% of it, or ≥ min(2.5·d, 25% of perimeter), lies in the ring — streets that merely clip a corner are dropped.</a:t>
            </a:r>
          </a:p>
        </p:txBody>
      </p:sp>
      <p:sp>
        <p:nvSpPr>
          <p:cNvPr id="8" name="Oval 7"/>
          <p:cNvSpPr/>
          <p:nvPr/>
        </p:nvSpPr>
        <p:spPr>
          <a:xfrm>
            <a:off x="6172200" y="3785616"/>
            <a:ext cx="457200" cy="457200"/>
          </a:xfrm>
          <a:prstGeom prst="ellipse">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3</a:t>
            </a:r>
          </a:p>
        </p:txBody>
      </p:sp>
      <p:sp>
        <p:nvSpPr>
          <p:cNvPr id="9" name="TextBox 8"/>
          <p:cNvSpPr txBox="1"/>
          <p:nvPr/>
        </p:nvSpPr>
        <p:spPr>
          <a:xfrm>
            <a:off x="6812280" y="3749040"/>
            <a:ext cx="4846320" cy="1143000"/>
          </a:xfrm>
          <a:prstGeom prst="rect">
            <a:avLst/>
          </a:prstGeom>
          <a:noFill/>
        </p:spPr>
        <p:txBody>
          <a:bodyPr wrap="square" anchor="t" lIns="0" rIns="0" tIns="0" bIns="0">
            <a:spAutoFit/>
          </a:bodyPr>
          <a:lstStyle/>
          <a:p>
            <a:pPr algn="l">
              <a:lnSpc>
                <a:spcPct val="108000"/>
              </a:lnSpc>
              <a:spcAft>
                <a:spcPts val="200"/>
              </a:spcAft>
            </a:pPr>
            <a:r>
              <a:rPr sz="1600" b="1" i="0">
                <a:solidFill>
                  <a:srgbClr val="1F2933"/>
                </a:solidFill>
                <a:latin typeface="Calibri"/>
              </a:rPr>
              <a:t>Size control</a:t>
            </a:r>
          </a:p>
          <a:p>
            <a:pPr algn="l">
              <a:lnSpc>
                <a:spcPct val="108000"/>
              </a:lnSpc>
              <a:spcAft>
                <a:spcPts val="200"/>
              </a:spcAft>
            </a:pPr>
            <a:r>
              <a:rPr sz="1300" b="0" i="0">
                <a:solidFill>
                  <a:srgbClr val="5F6B73"/>
                </a:solidFill>
                <a:latin typeface="Calibri"/>
              </a:rPr>
              <a:t>Up to K = 8 source segments per park by farthest-point sampling along the boundary; robustness measured as a share, not a count.</a:t>
            </a:r>
          </a:p>
        </p:txBody>
      </p:sp>
      <p:sp>
        <p:nvSpPr>
          <p:cNvPr id="10" name="Oval 9"/>
          <p:cNvSpPr/>
          <p:nvPr/>
        </p:nvSpPr>
        <p:spPr>
          <a:xfrm>
            <a:off x="6172200" y="4992624"/>
            <a:ext cx="457200" cy="457200"/>
          </a:xfrm>
          <a:prstGeom prst="ellipse">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4</a:t>
            </a:r>
          </a:p>
        </p:txBody>
      </p:sp>
      <p:sp>
        <p:nvSpPr>
          <p:cNvPr id="11" name="TextBox 10"/>
          <p:cNvSpPr txBox="1"/>
          <p:nvPr/>
        </p:nvSpPr>
        <p:spPr>
          <a:xfrm>
            <a:off x="6812280" y="4956048"/>
            <a:ext cx="4846320" cy="1143000"/>
          </a:xfrm>
          <a:prstGeom prst="rect">
            <a:avLst/>
          </a:prstGeom>
          <a:noFill/>
        </p:spPr>
        <p:txBody>
          <a:bodyPr wrap="square" anchor="t" lIns="0" rIns="0" tIns="0" bIns="0">
            <a:spAutoFit/>
          </a:bodyPr>
          <a:lstStyle/>
          <a:p>
            <a:pPr algn="l">
              <a:lnSpc>
                <a:spcPct val="108000"/>
              </a:lnSpc>
              <a:spcAft>
                <a:spcPts val="200"/>
              </a:spcAft>
            </a:pPr>
            <a:r>
              <a:rPr sz="1600" b="1" i="0">
                <a:solidFill>
                  <a:srgbClr val="1F2933"/>
                </a:solidFill>
                <a:latin typeface="Calibri"/>
              </a:rPr>
              <a:t>Unresolved ≠ isolated</a:t>
            </a:r>
          </a:p>
          <a:p>
            <a:pPr algn="l">
              <a:lnSpc>
                <a:spcPct val="108000"/>
              </a:lnSpc>
              <a:spcAft>
                <a:spcPts val="200"/>
              </a:spcAft>
            </a:pPr>
            <a:r>
              <a:rPr sz="1300" b="0" i="0">
                <a:solidFill>
                  <a:srgbClr val="5F6B73"/>
                </a:solidFill>
                <a:latin typeface="Calibri"/>
              </a:rPr>
              <a:t>Parks attached only to tiny OSM fragments are flagged unresolved rather than isolated.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Angular cost: how many degrees does the simplest route turn?</a:t>
            </a:r>
          </a:p>
        </p:txBody>
      </p:sp>
      <p:pic>
        <p:nvPicPr>
          <p:cNvPr id="3" name="Picture 2" descr="concept_angular.png"/>
          <p:cNvPicPr>
            <a:picLocks noChangeAspect="1"/>
          </p:cNvPicPr>
          <p:nvPr/>
        </p:nvPicPr>
        <p:blipFill>
          <a:blip r:embed="rId2"/>
          <a:stretch>
            <a:fillRect/>
          </a:stretch>
        </p:blipFill>
        <p:spPr>
          <a:xfrm>
            <a:off x="548640" y="1403558"/>
            <a:ext cx="11064240" cy="2862163"/>
          </a:xfrm>
          <a:prstGeom prst="rect">
            <a:avLst/>
          </a:prstGeom>
        </p:spPr>
      </p:pic>
      <p:sp>
        <p:nvSpPr>
          <p:cNvPr id="4" name="Rounded Rectangle 3"/>
          <p:cNvSpPr/>
          <p:nvPr/>
        </p:nvSpPr>
        <p:spPr>
          <a:xfrm>
            <a:off x="548640" y="4617720"/>
            <a:ext cx="11064240" cy="160020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754880"/>
            <a:ext cx="10607040" cy="1371600"/>
          </a:xfrm>
          <a:prstGeom prst="rect">
            <a:avLst/>
          </a:prstGeom>
          <a:noFill/>
        </p:spPr>
        <p:txBody>
          <a:bodyPr wrap="square" anchor="t" lIns="0" rIns="0" tIns="0" bIns="0">
            <a:spAutoFit/>
          </a:bodyPr>
          <a:lstStyle/>
          <a:p>
            <a:pPr algn="l">
              <a:lnSpc>
                <a:spcPct val="108000"/>
              </a:lnSpc>
              <a:spcAft>
                <a:spcPts val="800"/>
              </a:spcAft>
            </a:pPr>
            <a:r>
              <a:rPr sz="1400" b="1" i="0">
                <a:solidFill>
                  <a:srgbClr val="2C5F2D"/>
                </a:solidFill>
                <a:latin typeface="Calibri"/>
              </a:rPr>
              <a:t>Simplest path  </a:t>
            </a:r>
            <a:r>
              <a:rPr sz="1400" b="0" i="0">
                <a:solidFill>
                  <a:srgbClr val="1F2933"/>
                </a:solidFill>
                <a:latin typeface="Calibri"/>
              </a:rPr>
              <a:t>Cityseer routes on the dual graph (street segments = nodes) and minimises the cumulative change of direction, in degrees, including bends inside segments.</a:t>
            </a:r>
          </a:p>
          <a:p>
            <a:pPr algn="l">
              <a:lnSpc>
                <a:spcPct val="108000"/>
              </a:lnSpc>
              <a:spcAft>
                <a:spcPts val="800"/>
              </a:spcAft>
            </a:pPr>
            <a:r>
              <a:rPr sz="1400" b="1" i="0">
                <a:solidFill>
                  <a:srgbClr val="2C5F2D"/>
                </a:solidFill>
                <a:latin typeface="Calibri"/>
              </a:rPr>
              <a:t>Metric bound  </a:t>
            </a:r>
            <a:r>
              <a:rPr sz="1400" b="0" i="0">
                <a:solidFill>
                  <a:srgbClr val="1F2933"/>
                </a:solidFill>
                <a:latin typeface="Calibri"/>
              </a:rPr>
              <a:t>Each search runs up to 3.2 km of walking; R ∈ {800, 1600, 3200} m filters the path length afterwards — distance bounds the search, it does not define the edge.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N1 · Angular few-turn network</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Two parks are linked if the simplest route between them turns little in total</a:t>
            </a:r>
          </a:p>
        </p:txBody>
      </p:sp>
      <p:pic>
        <p:nvPicPr>
          <p:cNvPr id="4" name="Picture 3" descr="concept_N1.png"/>
          <p:cNvPicPr>
            <a:picLocks noChangeAspect="1"/>
          </p:cNvPicPr>
          <p:nvPr/>
        </p:nvPicPr>
        <p:blipFill>
          <a:blip r:embed="rId2"/>
          <a:stretch>
            <a:fillRect/>
          </a:stretch>
        </p:blipFill>
        <p:spPr>
          <a:xfrm>
            <a:off x="519032" y="1463040"/>
            <a:ext cx="4814095" cy="4937760"/>
          </a:xfrm>
          <a:prstGeom prst="rect">
            <a:avLst/>
          </a:prstGeom>
        </p:spPr>
      </p:pic>
      <p:sp>
        <p:nvSpPr>
          <p:cNvPr id="5" name="Rounded Rectangle 4"/>
          <p:cNvSpPr/>
          <p:nvPr/>
        </p:nvSpPr>
        <p:spPr>
          <a:xfrm>
            <a:off x="5669280" y="1508760"/>
            <a:ext cx="5943600" cy="123444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97880" y="1627632"/>
            <a:ext cx="5486400" cy="1051560"/>
          </a:xfrm>
          <a:prstGeom prst="rect">
            <a:avLst/>
          </a:prstGeom>
          <a:noFill/>
        </p:spPr>
        <p:txBody>
          <a:bodyPr wrap="square" anchor="t" lIns="0" rIns="0" tIns="0" bIns="0">
            <a:spAutoFit/>
          </a:bodyPr>
          <a:lstStyle/>
          <a:p>
            <a:pPr algn="l">
              <a:lnSpc>
                <a:spcPct val="108000"/>
              </a:lnSpc>
              <a:spcAft>
                <a:spcPts val="600"/>
              </a:spcAft>
            </a:pPr>
            <a:r>
              <a:rPr sz="1600" b="1" i="1">
                <a:solidFill>
                  <a:srgbClr val="1F2933"/>
                </a:solidFill>
                <a:latin typeface="Calibri"/>
              </a:rPr>
              <a:t>A</a:t>
            </a:r>
            <a:r>
              <a:rPr sz="1600" b="0" i="0" baseline="-25000">
                <a:solidFill>
                  <a:srgbClr val="1F2933"/>
                </a:solidFill>
                <a:latin typeface="Calibri"/>
              </a:rPr>
              <a:t>ij</a:t>
            </a:r>
            <a:r>
              <a:rPr sz="1600" b="0" i="0">
                <a:solidFill>
                  <a:srgbClr val="1F2933"/>
                </a:solidFill>
                <a:latin typeface="Calibri"/>
              </a:rPr>
              <a:t>(R) = min over source u ∈ B</a:t>
            </a:r>
            <a:r>
              <a:rPr sz="1600" b="0" i="0" baseline="-25000">
                <a:solidFill>
                  <a:srgbClr val="1F2933"/>
                </a:solidFill>
                <a:latin typeface="Calibri"/>
              </a:rPr>
              <a:t>i</a:t>
            </a:r>
            <a:r>
              <a:rPr sz="1600" b="0" i="0">
                <a:solidFill>
                  <a:srgbClr val="1F2933"/>
                </a:solidFill>
                <a:latin typeface="Calibri"/>
              </a:rPr>
              <a:t>, target v ∈ B</a:t>
            </a:r>
            <a:r>
              <a:rPr sz="1600" b="0" i="0" baseline="-25000">
                <a:solidFill>
                  <a:srgbClr val="1F2933"/>
                </a:solidFill>
                <a:latin typeface="Calibri"/>
              </a:rPr>
              <a:t>j</a:t>
            </a:r>
            <a:r>
              <a:rPr sz="1600" b="0" i="0">
                <a:solidFill>
                  <a:srgbClr val="1F2933"/>
                </a:solidFill>
                <a:latin typeface="Calibri"/>
              </a:rPr>
              <a:t> of angular cost(u → v),  path length ≤ R</a:t>
            </a:r>
          </a:p>
          <a:p>
            <a:pPr algn="l">
              <a:lnSpc>
                <a:spcPct val="108000"/>
              </a:lnSpc>
              <a:spcAft>
                <a:spcPts val="600"/>
              </a:spcAft>
            </a:pPr>
            <a:r>
              <a:rPr sz="1600" b="1" i="0">
                <a:solidFill>
                  <a:srgbClr val="1F2933"/>
                </a:solidFill>
                <a:latin typeface="Calibri"/>
              </a:rPr>
              <a:t>edge  ⇔  A</a:t>
            </a:r>
            <a:r>
              <a:rPr sz="1600" b="1" i="0" baseline="-25000">
                <a:solidFill>
                  <a:srgbClr val="1F2933"/>
                </a:solidFill>
                <a:latin typeface="Calibri"/>
              </a:rPr>
              <a:t>ij</a:t>
            </a:r>
            <a:r>
              <a:rPr sz="1600" b="1" i="0">
                <a:solidFill>
                  <a:srgbClr val="1F2933"/>
                </a:solidFill>
                <a:latin typeface="Calibri"/>
              </a:rPr>
              <a:t> ≤ θ</a:t>
            </a:r>
          </a:p>
        </p:txBody>
      </p:sp>
      <p:graphicFrame>
        <p:nvGraphicFramePr>
          <p:cNvPr id="7" name="Table 6"/>
          <p:cNvGraphicFramePr>
            <a:graphicFrameLocks noGrp="1"/>
          </p:cNvGraphicFramePr>
          <p:nvPr/>
        </p:nvGraphicFramePr>
        <p:xfrm>
          <a:off x="5669280" y="2971800"/>
          <a:ext cx="5943600" cy="2011680"/>
        </p:xfrm>
        <a:graphic>
          <a:graphicData uri="http://schemas.openxmlformats.org/drawingml/2006/table">
            <a:tbl>
              <a:tblPr firstRow="1">
                <a:tableStyleId>{5C22544A-7EE6-4342-B048-85BDC9FD1C3A}</a:tableStyleId>
              </a:tblPr>
              <a:tblGrid>
                <a:gridCol w="914400"/>
                <a:gridCol w="2926080"/>
                <a:gridCol w="2103120"/>
              </a:tblGrid>
              <a:tr h="402336">
                <a:tc>
                  <a:txBody>
                    <a:bodyPr/>
                    <a:lstStyle/>
                    <a:p>
                      <a:r>
                        <a:rPr sz="1400" b="1">
                          <a:solidFill>
                            <a:srgbClr val="FFFFFF"/>
                          </a:solidFill>
                          <a:latin typeface="Calibri"/>
                        </a:rPr>
                        <a:t>θ</a:t>
                      </a:r>
                    </a:p>
                  </a:txBody>
                  <a:tcPr>
                    <a:solidFill>
                      <a:srgbClr val="2C5F2D"/>
                    </a:solidFill>
                  </a:tcPr>
                </a:tc>
                <a:tc>
                  <a:txBody>
                    <a:bodyPr/>
                    <a:lstStyle/>
                    <a:p>
                      <a:r>
                        <a:rPr sz="1400" b="1">
                          <a:solidFill>
                            <a:srgbClr val="FFFFFF"/>
                          </a:solidFill>
                          <a:latin typeface="Calibri"/>
                        </a:rPr>
                        <a:t>reading</a:t>
                      </a:r>
                    </a:p>
                  </a:txBody>
                  <a:tcPr>
                    <a:solidFill>
                      <a:srgbClr val="2C5F2D"/>
                    </a:solidFill>
                  </a:tcPr>
                </a:tc>
                <a:tc>
                  <a:txBody>
                    <a:bodyPr/>
                    <a:lstStyle/>
                    <a:p>
                      <a:r>
                        <a:rPr sz="1400" b="1">
                          <a:solidFill>
                            <a:srgbClr val="FFFFFF"/>
                          </a:solidFill>
                          <a:latin typeface="Calibri"/>
                        </a:rPr>
                        <a:t>edges from A</a:t>
                      </a:r>
                    </a:p>
                  </a:txBody>
                  <a:tcPr>
                    <a:solidFill>
                      <a:srgbClr val="2C5F2D"/>
                    </a:solidFill>
                  </a:tcPr>
                </a:tc>
              </a:tr>
              <a:tr h="402336">
                <a:tc>
                  <a:txBody>
                    <a:bodyPr/>
                    <a:lstStyle/>
                    <a:p>
                      <a:r>
                        <a:rPr sz="1400" b="0">
                          <a:solidFill>
                            <a:srgbClr val="1F2933"/>
                          </a:solidFill>
                          <a:latin typeface="Calibri"/>
                        </a:rPr>
                        <a:t>15°</a:t>
                      </a:r>
                    </a:p>
                  </a:txBody>
                  <a:tcPr>
                    <a:solidFill>
                      <a:srgbClr val="FFFFFF"/>
                    </a:solidFill>
                  </a:tcPr>
                </a:tc>
                <a:tc>
                  <a:txBody>
                    <a:bodyPr/>
                    <a:lstStyle/>
                    <a:p>
                      <a:r>
                        <a:rPr sz="1400" b="0">
                          <a:solidFill>
                            <a:srgbClr val="1F2933"/>
                          </a:solidFill>
                          <a:latin typeface="Calibri"/>
                        </a:rPr>
                        <a:t>same straight street</a:t>
                      </a:r>
                    </a:p>
                  </a:txBody>
                  <a:tcPr>
                    <a:solidFill>
                      <a:srgbClr val="FFFFFF"/>
                    </a:solidFill>
                  </a:tcPr>
                </a:tc>
                <a:tc>
                  <a:txBody>
                    <a:bodyPr/>
                    <a:lstStyle/>
                    <a:p>
                      <a:r>
                        <a:rPr sz="1400" b="0">
                          <a:solidFill>
                            <a:srgbClr val="1F2933"/>
                          </a:solidFill>
                          <a:latin typeface="Calibri"/>
                        </a:rPr>
                        <a:t>B</a:t>
                      </a:r>
                    </a:p>
                  </a:txBody>
                  <a:tcPr>
                    <a:solidFill>
                      <a:srgbClr val="FFFFFF"/>
                    </a:solidFill>
                  </a:tcPr>
                </a:tc>
              </a:tr>
              <a:tr h="402336">
                <a:tc>
                  <a:txBody>
                    <a:bodyPr/>
                    <a:lstStyle/>
                    <a:p>
                      <a:r>
                        <a:rPr sz="1400" b="0">
                          <a:solidFill>
                            <a:srgbClr val="1F2933"/>
                          </a:solidFill>
                          <a:latin typeface="Calibri"/>
                        </a:rPr>
                        <a:t>45°</a:t>
                      </a:r>
                    </a:p>
                  </a:txBody>
                  <a:tcPr>
                    <a:solidFill>
                      <a:srgbClr val="EEF3EA"/>
                    </a:solidFill>
                  </a:tcPr>
                </a:tc>
                <a:tc>
                  <a:txBody>
                    <a:bodyPr/>
                    <a:lstStyle/>
                    <a:p>
                      <a:r>
                        <a:rPr sz="1400" b="0">
                          <a:solidFill>
                            <a:srgbClr val="1F2933"/>
                          </a:solidFill>
                          <a:latin typeface="Calibri"/>
                        </a:rPr>
                        <a:t>nearly straight</a:t>
                      </a:r>
                    </a:p>
                  </a:txBody>
                  <a:tcPr>
                    <a:solidFill>
                      <a:srgbClr val="EEF3EA"/>
                    </a:solidFill>
                  </a:tcPr>
                </a:tc>
                <a:tc>
                  <a:txBody>
                    <a:bodyPr/>
                    <a:lstStyle/>
                    <a:p>
                      <a:r>
                        <a:rPr sz="1400" b="0">
                          <a:solidFill>
                            <a:srgbClr val="1F2933"/>
                          </a:solidFill>
                          <a:latin typeface="Calibri"/>
                        </a:rPr>
                        <a:t>B</a:t>
                      </a:r>
                    </a:p>
                  </a:txBody>
                  <a:tcPr>
                    <a:solidFill>
                      <a:srgbClr val="EEF3EA"/>
                    </a:solidFill>
                  </a:tcPr>
                </a:tc>
              </a:tr>
              <a:tr h="402336">
                <a:tc>
                  <a:txBody>
                    <a:bodyPr/>
                    <a:lstStyle/>
                    <a:p>
                      <a:r>
                        <a:rPr sz="1400" b="0">
                          <a:solidFill>
                            <a:srgbClr val="1F2933"/>
                          </a:solidFill>
                          <a:latin typeface="Calibri"/>
                        </a:rPr>
                        <a:t>90°</a:t>
                      </a:r>
                    </a:p>
                  </a:txBody>
                  <a:tcPr>
                    <a:solidFill>
                      <a:srgbClr val="FFFFFF"/>
                    </a:solidFill>
                  </a:tcPr>
                </a:tc>
                <a:tc>
                  <a:txBody>
                    <a:bodyPr/>
                    <a:lstStyle/>
                    <a:p>
                      <a:r>
                        <a:rPr sz="1400" b="0">
                          <a:solidFill>
                            <a:srgbClr val="1F2933"/>
                          </a:solidFill>
                          <a:latin typeface="Calibri"/>
                        </a:rPr>
                        <a:t>one right-angle turn (strict)</a:t>
                      </a:r>
                    </a:p>
                  </a:txBody>
                  <a:tcPr>
                    <a:solidFill>
                      <a:srgbClr val="FFFFFF"/>
                    </a:solidFill>
                  </a:tcPr>
                </a:tc>
                <a:tc>
                  <a:txBody>
                    <a:bodyPr/>
                    <a:lstStyle/>
                    <a:p>
                      <a:r>
                        <a:rPr sz="1400" b="0">
                          <a:solidFill>
                            <a:srgbClr val="1F2933"/>
                          </a:solidFill>
                          <a:latin typeface="Calibri"/>
                        </a:rPr>
                        <a:t>B, C</a:t>
                      </a:r>
                    </a:p>
                  </a:txBody>
                  <a:tcPr>
                    <a:solidFill>
                      <a:srgbClr val="FFFFFF"/>
                    </a:solidFill>
                  </a:tcPr>
                </a:tc>
              </a:tr>
              <a:tr h="402336">
                <a:tc>
                  <a:txBody>
                    <a:bodyPr/>
                    <a:lstStyle/>
                    <a:p>
                      <a:r>
                        <a:rPr sz="1400" b="0">
                          <a:solidFill>
                            <a:srgbClr val="1F2933"/>
                          </a:solidFill>
                          <a:latin typeface="Calibri"/>
                        </a:rPr>
                        <a:t>180°</a:t>
                      </a:r>
                    </a:p>
                  </a:txBody>
                  <a:tcPr>
                    <a:solidFill>
                      <a:srgbClr val="EEF3EA"/>
                    </a:solidFill>
                  </a:tcPr>
                </a:tc>
                <a:tc>
                  <a:txBody>
                    <a:bodyPr/>
                    <a:lstStyle/>
                    <a:p>
                      <a:r>
                        <a:rPr sz="1400" b="0">
                          <a:solidFill>
                            <a:srgbClr val="1F2933"/>
                          </a:solidFill>
                          <a:latin typeface="Calibri"/>
                        </a:rPr>
                        <a:t>two turns</a:t>
                      </a:r>
                    </a:p>
                  </a:txBody>
                  <a:tcPr>
                    <a:solidFill>
                      <a:srgbClr val="EEF3EA"/>
                    </a:solidFill>
                  </a:tcPr>
                </a:tc>
                <a:tc>
                  <a:txBody>
                    <a:bodyPr/>
                    <a:lstStyle/>
                    <a:p>
                      <a:r>
                        <a:rPr sz="1400" b="0">
                          <a:solidFill>
                            <a:srgbClr val="1F2933"/>
                          </a:solidFill>
                          <a:latin typeface="Calibri"/>
                        </a:rPr>
                        <a:t>B, C, D</a:t>
                      </a:r>
                    </a:p>
                  </a:txBody>
                  <a:tcPr>
                    <a:solidFill>
                      <a:srgbClr val="EEF3EA"/>
                    </a:solidFill>
                  </a:tcPr>
                </a:tc>
              </a:tr>
            </a:tbl>
          </a:graphicData>
        </a:graphic>
      </p:graphicFrame>
      <p:sp>
        <p:nvSpPr>
          <p:cNvPr id="8" name="TextBox 7"/>
          <p:cNvSpPr txBox="1"/>
          <p:nvPr/>
        </p:nvSpPr>
        <p:spPr>
          <a:xfrm>
            <a:off x="5669280" y="5212080"/>
            <a:ext cx="5943600" cy="1188720"/>
          </a:xfrm>
          <a:prstGeom prst="rect">
            <a:avLst/>
          </a:prstGeom>
          <a:noFill/>
        </p:spPr>
        <p:txBody>
          <a:bodyPr wrap="square" anchor="t" lIns="0" rIns="0" tIns="0" bIns="0">
            <a:spAutoFit/>
          </a:bodyPr>
          <a:lstStyle/>
          <a:p>
            <a:pPr algn="l" marL="228600" indent="-228600">
              <a:lnSpc>
                <a:spcPct val="108000"/>
              </a:lnSpc>
              <a:spcAft>
                <a:spcPts val="400"/>
              </a:spcAft>
              <a:buFont typeface="Arial"/>
              <a:buChar char="•"/>
            </a:pPr>
            <a:r>
              <a:rPr sz="1300" b="0" i="0">
                <a:solidFill>
                  <a:srgbClr val="5F6B73"/>
                </a:solidFill>
                <a:latin typeface="Calibri"/>
              </a:rPr>
              <a:t>24 settings: θ ∈ {15, 45, 90, 180}° × R ∈ {800, 1600, 3200} m × {best pair, ≥ 2 robust pairs}</a:t>
            </a:r>
          </a:p>
          <a:p>
            <a:pPr algn="l" marL="228600" indent="-228600">
              <a:lnSpc>
                <a:spcPct val="108000"/>
              </a:lnSpc>
              <a:spcAft>
                <a:spcPts val="400"/>
              </a:spcAft>
              <a:buFont typeface="Arial"/>
              <a:buChar char="•"/>
            </a:pPr>
            <a:r>
              <a:rPr sz="1300" b="0" i="0">
                <a:solidFill>
                  <a:srgbClr val="5F6B73"/>
                </a:solidFill>
                <a:latin typeface="Calibri"/>
              </a:rPr>
              <a:t>Trivial co-frontage (shared street segment, touching polygons) and pieces of the same park are excluded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N1 · How it is computed</a:t>
            </a:r>
          </a:p>
        </p:txBody>
      </p:sp>
      <p:pic>
        <p:nvPicPr>
          <p:cNvPr id="3" name="Picture 2" descr="angular_field.png"/>
          <p:cNvPicPr>
            <a:picLocks noChangeAspect="1"/>
          </p:cNvPicPr>
          <p:nvPr/>
        </p:nvPicPr>
        <p:blipFill>
          <a:blip r:embed="rId2"/>
          <a:stretch>
            <a:fillRect/>
          </a:stretch>
        </p:blipFill>
        <p:spPr>
          <a:xfrm>
            <a:off x="457200" y="1507390"/>
            <a:ext cx="5394960" cy="4757619"/>
          </a:xfrm>
          <a:prstGeom prst="rect">
            <a:avLst/>
          </a:prstGeom>
        </p:spPr>
      </p:pic>
      <p:sp>
        <p:nvSpPr>
          <p:cNvPr id="4" name="Rounded Rectangle 3"/>
          <p:cNvSpPr/>
          <p:nvPr/>
        </p:nvSpPr>
        <p:spPr>
          <a:xfrm>
            <a:off x="6172200" y="1325880"/>
            <a:ext cx="5486400" cy="10972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55080" y="1435607"/>
            <a:ext cx="548640" cy="822960"/>
          </a:xfrm>
          <a:prstGeom prst="rect">
            <a:avLst/>
          </a:prstGeom>
          <a:noFill/>
        </p:spPr>
        <p:txBody>
          <a:bodyPr wrap="square" anchor="t" lIns="0" rIns="0" tIns="0" bIns="0">
            <a:spAutoFit/>
          </a:bodyPr>
          <a:lstStyle/>
          <a:p>
            <a:pPr algn="l">
              <a:lnSpc>
                <a:spcPct val="108000"/>
              </a:lnSpc>
              <a:spcAft>
                <a:spcPts val="600"/>
              </a:spcAft>
            </a:pPr>
            <a:r>
              <a:rPr sz="3000" b="1" i="0">
                <a:solidFill>
                  <a:srgbClr val="E07A3F"/>
                </a:solidFill>
                <a:latin typeface="Cambria"/>
              </a:rPr>
              <a:t>1</a:t>
            </a:r>
          </a:p>
        </p:txBody>
      </p:sp>
      <p:sp>
        <p:nvSpPr>
          <p:cNvPr id="6" name="TextBox 5"/>
          <p:cNvSpPr txBox="1"/>
          <p:nvPr/>
        </p:nvSpPr>
        <p:spPr>
          <a:xfrm>
            <a:off x="6949440" y="1435607"/>
            <a:ext cx="4572000" cy="91440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Angular trees</a:t>
            </a:r>
          </a:p>
          <a:p>
            <a:pPr algn="l">
              <a:lnSpc>
                <a:spcPct val="108000"/>
              </a:lnSpc>
              <a:spcAft>
                <a:spcPts val="200"/>
              </a:spcAft>
            </a:pPr>
            <a:r>
              <a:rPr sz="1250" b="0" i="0">
                <a:solidFill>
                  <a:srgbClr val="5F6B73"/>
                </a:solidFill>
                <a:latin typeface="Calibri"/>
              </a:rPr>
              <a:t>One simplest-path search per source segment (≤ 3.2 km) on borough networks with 3.2 km buffers</a:t>
            </a:r>
          </a:p>
        </p:txBody>
      </p:sp>
      <p:sp>
        <p:nvSpPr>
          <p:cNvPr id="7" name="Rounded Rectangle 6"/>
          <p:cNvSpPr/>
          <p:nvPr/>
        </p:nvSpPr>
        <p:spPr>
          <a:xfrm>
            <a:off x="6172200" y="2587752"/>
            <a:ext cx="5486400" cy="10972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697480"/>
            <a:ext cx="548640" cy="822960"/>
          </a:xfrm>
          <a:prstGeom prst="rect">
            <a:avLst/>
          </a:prstGeom>
          <a:noFill/>
        </p:spPr>
        <p:txBody>
          <a:bodyPr wrap="square" anchor="t" lIns="0" rIns="0" tIns="0" bIns="0">
            <a:spAutoFit/>
          </a:bodyPr>
          <a:lstStyle/>
          <a:p>
            <a:pPr algn="l">
              <a:lnSpc>
                <a:spcPct val="108000"/>
              </a:lnSpc>
              <a:spcAft>
                <a:spcPts val="600"/>
              </a:spcAft>
            </a:pPr>
            <a:r>
              <a:rPr sz="3000" b="1" i="0">
                <a:solidFill>
                  <a:srgbClr val="E07A3F"/>
                </a:solidFill>
                <a:latin typeface="Cambria"/>
              </a:rPr>
              <a:t>2</a:t>
            </a:r>
          </a:p>
        </p:txBody>
      </p:sp>
      <p:sp>
        <p:nvSpPr>
          <p:cNvPr id="9" name="TextBox 8"/>
          <p:cNvSpPr txBox="1"/>
          <p:nvPr/>
        </p:nvSpPr>
        <p:spPr>
          <a:xfrm>
            <a:off x="6949440" y="2697480"/>
            <a:ext cx="4572000" cy="91440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Park pairs</a:t>
            </a:r>
          </a:p>
          <a:p>
            <a:pPr algn="l">
              <a:lnSpc>
                <a:spcPct val="108000"/>
              </a:lnSpc>
              <a:spcAft>
                <a:spcPts val="200"/>
              </a:spcAft>
            </a:pPr>
            <a:r>
              <a:rPr sz="1250" b="0" i="0">
                <a:solidFill>
                  <a:srgbClr val="5F6B73"/>
                </a:solidFill>
                <a:latin typeface="Calibri"/>
              </a:rPr>
              <a:t>Minimum angle to every attachment of every other park → 212,137 directed park pairs</a:t>
            </a:r>
          </a:p>
        </p:txBody>
      </p:sp>
      <p:sp>
        <p:nvSpPr>
          <p:cNvPr id="10" name="Rounded Rectangle 9"/>
          <p:cNvSpPr/>
          <p:nvPr/>
        </p:nvSpPr>
        <p:spPr>
          <a:xfrm>
            <a:off x="6172200" y="3849624"/>
            <a:ext cx="5486400" cy="10972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3959352"/>
            <a:ext cx="548640" cy="822960"/>
          </a:xfrm>
          <a:prstGeom prst="rect">
            <a:avLst/>
          </a:prstGeom>
          <a:noFill/>
        </p:spPr>
        <p:txBody>
          <a:bodyPr wrap="square" anchor="t" lIns="0" rIns="0" tIns="0" bIns="0">
            <a:spAutoFit/>
          </a:bodyPr>
          <a:lstStyle/>
          <a:p>
            <a:pPr algn="l">
              <a:lnSpc>
                <a:spcPct val="108000"/>
              </a:lnSpc>
              <a:spcAft>
                <a:spcPts val="600"/>
              </a:spcAft>
            </a:pPr>
            <a:r>
              <a:rPr sz="3000" b="1" i="0">
                <a:solidFill>
                  <a:srgbClr val="E07A3F"/>
                </a:solidFill>
                <a:latin typeface="Cambria"/>
              </a:rPr>
              <a:t>3</a:t>
            </a:r>
          </a:p>
        </p:txBody>
      </p:sp>
      <p:sp>
        <p:nvSpPr>
          <p:cNvPr id="12" name="TextBox 11"/>
          <p:cNvSpPr txBox="1"/>
          <p:nvPr/>
        </p:nvSpPr>
        <p:spPr>
          <a:xfrm>
            <a:off x="6949440" y="3959352"/>
            <a:ext cx="4572000" cy="91440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Threshold grid</a:t>
            </a:r>
          </a:p>
          <a:p>
            <a:pPr algn="l">
              <a:lnSpc>
                <a:spcPct val="108000"/>
              </a:lnSpc>
              <a:spcAft>
                <a:spcPts val="200"/>
              </a:spcAft>
            </a:pPr>
            <a:r>
              <a:rPr sz="1250" b="0" i="0">
                <a:solidFill>
                  <a:srgbClr val="5F6B73"/>
                </a:solidFill>
                <a:latin typeface="Calibri"/>
              </a:rPr>
              <a:t>Apply θ and R; build 24 park graphs; classify isolated / dyad / chain / 2-core</a:t>
            </a:r>
          </a:p>
        </p:txBody>
      </p:sp>
      <p:sp>
        <p:nvSpPr>
          <p:cNvPr id="13" name="Rounded Rectangle 12"/>
          <p:cNvSpPr/>
          <p:nvPr/>
        </p:nvSpPr>
        <p:spPr>
          <a:xfrm>
            <a:off x="6172200" y="5111496"/>
            <a:ext cx="5486400" cy="10972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5221224"/>
            <a:ext cx="548640" cy="822960"/>
          </a:xfrm>
          <a:prstGeom prst="rect">
            <a:avLst/>
          </a:prstGeom>
          <a:noFill/>
        </p:spPr>
        <p:txBody>
          <a:bodyPr wrap="square" anchor="t" lIns="0" rIns="0" tIns="0" bIns="0">
            <a:spAutoFit/>
          </a:bodyPr>
          <a:lstStyle/>
          <a:p>
            <a:pPr algn="l">
              <a:lnSpc>
                <a:spcPct val="108000"/>
              </a:lnSpc>
              <a:spcAft>
                <a:spcPts val="600"/>
              </a:spcAft>
            </a:pPr>
            <a:r>
              <a:rPr sz="3000" b="1" i="0">
                <a:solidFill>
                  <a:srgbClr val="E07A3F"/>
                </a:solidFill>
                <a:latin typeface="Cambria"/>
              </a:rPr>
              <a:t>4</a:t>
            </a:r>
          </a:p>
        </p:txBody>
      </p:sp>
      <p:sp>
        <p:nvSpPr>
          <p:cNvPr id="15" name="TextBox 14"/>
          <p:cNvSpPr txBox="1"/>
          <p:nvPr/>
        </p:nvSpPr>
        <p:spPr>
          <a:xfrm>
            <a:off x="6949440" y="5221224"/>
            <a:ext cx="4572000" cy="914400"/>
          </a:xfrm>
          <a:prstGeom prst="rect">
            <a:avLst/>
          </a:prstGeom>
          <a:noFill/>
        </p:spPr>
        <p:txBody>
          <a:bodyPr wrap="square" anchor="t" lIns="0" rIns="0" tIns="0" bIns="0">
            <a:spAutoFit/>
          </a:bodyPr>
          <a:lstStyle/>
          <a:p>
            <a:pPr algn="l">
              <a:lnSpc>
                <a:spcPct val="108000"/>
              </a:lnSpc>
              <a:spcAft>
                <a:spcPts val="200"/>
              </a:spcAft>
            </a:pPr>
            <a:r>
              <a:rPr sz="1500" b="1" i="0">
                <a:solidFill>
                  <a:srgbClr val="1F2933"/>
                </a:solidFill>
                <a:latin typeface="Calibri"/>
              </a:rPr>
              <a:t>Groups</a:t>
            </a:r>
          </a:p>
          <a:p>
            <a:pPr algn="l">
              <a:lnSpc>
                <a:spcPct val="108000"/>
              </a:lnSpc>
              <a:spcAft>
                <a:spcPts val="200"/>
              </a:spcAft>
            </a:pPr>
            <a:r>
              <a:rPr sz="1250" b="0" i="0">
                <a:solidFill>
                  <a:srgbClr val="5F6B73"/>
                </a:solidFill>
                <a:latin typeface="Calibri"/>
              </a:rPr>
              <a:t>Communities on the 9 non-percolating settings (weights exp(−A / 45°)); consensus; split to a 10-min walking diameter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N1 · Groups of parks linked by few-turn routes</a:t>
            </a:r>
          </a:p>
        </p:txBody>
      </p:sp>
      <p:pic>
        <p:nvPicPr>
          <p:cNvPr id="3" name="Picture 2" descr="N1_overview.png"/>
          <p:cNvPicPr>
            <a:picLocks noChangeAspect="1"/>
          </p:cNvPicPr>
          <p:nvPr/>
        </p:nvPicPr>
        <p:blipFill>
          <a:blip r:embed="rId2"/>
          <a:stretch>
            <a:fillRect/>
          </a:stretch>
        </p:blipFill>
        <p:spPr>
          <a:xfrm>
            <a:off x="365760" y="1541270"/>
            <a:ext cx="4480559" cy="4689858"/>
          </a:xfrm>
          <a:prstGeom prst="rect">
            <a:avLst/>
          </a:prstGeom>
        </p:spPr>
      </p:pic>
      <p:pic>
        <p:nvPicPr>
          <p:cNvPr id="4" name="Picture 3" descr="N1_zoom_A.png"/>
          <p:cNvPicPr>
            <a:picLocks noChangeAspect="1"/>
          </p:cNvPicPr>
          <p:nvPr/>
        </p:nvPicPr>
        <p:blipFill>
          <a:blip r:embed="rId3"/>
          <a:stretch>
            <a:fillRect/>
          </a:stretch>
        </p:blipFill>
        <p:spPr>
          <a:xfrm>
            <a:off x="4846320" y="1314653"/>
            <a:ext cx="4846320" cy="4777333"/>
          </a:xfrm>
          <a:prstGeom prst="rect">
            <a:avLst/>
          </a:prstGeom>
        </p:spPr>
      </p:pic>
      <p:sp>
        <p:nvSpPr>
          <p:cNvPr id="5" name="TextBox 4"/>
          <p:cNvSpPr txBox="1"/>
          <p:nvPr/>
        </p:nvSpPr>
        <p:spPr>
          <a:xfrm>
            <a:off x="9875520" y="128016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340</a:t>
            </a:r>
          </a:p>
        </p:txBody>
      </p:sp>
      <p:sp>
        <p:nvSpPr>
          <p:cNvPr id="6" name="TextBox 5"/>
          <p:cNvSpPr txBox="1"/>
          <p:nvPr/>
        </p:nvSpPr>
        <p:spPr>
          <a:xfrm>
            <a:off x="9875520" y="1993391"/>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walkable groups (γ = 2, every pair ≤ 10 min)</a:t>
            </a:r>
          </a:p>
        </p:txBody>
      </p:sp>
      <p:sp>
        <p:nvSpPr>
          <p:cNvPr id="7" name="TextBox 6"/>
          <p:cNvSpPr txBox="1"/>
          <p:nvPr/>
        </p:nvSpPr>
        <p:spPr>
          <a:xfrm>
            <a:off x="9875520" y="251460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1,178</a:t>
            </a:r>
          </a:p>
        </p:txBody>
      </p:sp>
      <p:sp>
        <p:nvSpPr>
          <p:cNvPr id="8" name="TextBox 7"/>
          <p:cNvSpPr txBox="1"/>
          <p:nvPr/>
        </p:nvSpPr>
        <p:spPr>
          <a:xfrm>
            <a:off x="9875520" y="322783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parks in a group</a:t>
            </a:r>
          </a:p>
        </p:txBody>
      </p:sp>
      <p:sp>
        <p:nvSpPr>
          <p:cNvPr id="9" name="TextBox 8"/>
          <p:cNvSpPr txBox="1"/>
          <p:nvPr/>
        </p:nvSpPr>
        <p:spPr>
          <a:xfrm>
            <a:off x="9875520" y="3749039"/>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391 m</a:t>
            </a:r>
          </a:p>
        </p:txBody>
      </p:sp>
      <p:sp>
        <p:nvSpPr>
          <p:cNvPr id="10" name="TextBox 9"/>
          <p:cNvSpPr txBox="1"/>
          <p:nvPr/>
        </p:nvSpPr>
        <p:spPr>
          <a:xfrm>
            <a:off x="9875520" y="446227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median walking span within a group</a:t>
            </a:r>
          </a:p>
        </p:txBody>
      </p:sp>
      <p:sp>
        <p:nvSpPr>
          <p:cNvPr id="11" name="TextBox 10"/>
          <p:cNvSpPr txBox="1"/>
          <p:nvPr/>
        </p:nvSpPr>
        <p:spPr>
          <a:xfrm>
            <a:off x="9875520" y="498348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C0392B"/>
                </a:solidFill>
                <a:latin typeface="Cambria"/>
              </a:rPr>
              <a:t>132</a:t>
            </a:r>
          </a:p>
        </p:txBody>
      </p:sp>
      <p:sp>
        <p:nvSpPr>
          <p:cNvPr id="12" name="TextBox 11"/>
          <p:cNvSpPr txBox="1"/>
          <p:nvPr/>
        </p:nvSpPr>
        <p:spPr>
          <a:xfrm>
            <a:off x="9875520" y="569671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robust isolated (≥ 80% of settings)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N1 · Three scales of grouping</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Louvain resolution γ: 1 = neighbourhood scale, 4 = block scale (zoom B)</a:t>
            </a:r>
          </a:p>
        </p:txBody>
      </p:sp>
      <p:pic>
        <p:nvPicPr>
          <p:cNvPr id="4" name="Picture 3" descr="N1_gammas_B.png"/>
          <p:cNvPicPr>
            <a:picLocks noChangeAspect="1"/>
          </p:cNvPicPr>
          <p:nvPr/>
        </p:nvPicPr>
        <p:blipFill>
          <a:blip r:embed="rId2"/>
          <a:stretch>
            <a:fillRect/>
          </a:stretch>
        </p:blipFill>
        <p:spPr>
          <a:xfrm>
            <a:off x="457200" y="1690041"/>
            <a:ext cx="11247120" cy="3706518"/>
          </a:xfrm>
          <a:prstGeom prst="rect">
            <a:avLst/>
          </a:prstGeom>
        </p:spPr>
      </p:pic>
      <p:sp>
        <p:nvSpPr>
          <p:cNvPr id="5" name="Rounded Rectangle 4"/>
          <p:cNvSpPr/>
          <p:nvPr/>
        </p:nvSpPr>
        <p:spPr>
          <a:xfrm>
            <a:off x="822960" y="5623560"/>
            <a:ext cx="3291840" cy="82296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715000"/>
            <a:ext cx="3017520" cy="685800"/>
          </a:xfrm>
          <a:prstGeom prst="rect">
            <a:avLst/>
          </a:prstGeom>
          <a:noFill/>
        </p:spPr>
        <p:txBody>
          <a:bodyPr wrap="square" anchor="ctr" lIns="0" rIns="0" tIns="0" bIns="0">
            <a:spAutoFit/>
          </a:bodyPr>
          <a:lstStyle/>
          <a:p>
            <a:pPr algn="l">
              <a:lnSpc>
                <a:spcPct val="108000"/>
              </a:lnSpc>
              <a:spcAft>
                <a:spcPts val="600"/>
              </a:spcAft>
            </a:pPr>
            <a:r>
              <a:rPr sz="1300" b="1" i="0">
                <a:solidFill>
                  <a:srgbClr val="2C5F2D"/>
                </a:solidFill>
                <a:latin typeface="Calibri"/>
              </a:rPr>
              <a:t>γ = 1  </a:t>
            </a:r>
            <a:r>
              <a:rPr sz="1300" b="0" i="0">
                <a:solidFill>
                  <a:srgbClr val="1F2933"/>
                </a:solidFill>
                <a:latin typeface="Calibri"/>
              </a:rPr>
              <a:t>336 groups · max 15 parks · median span 395 m</a:t>
            </a:r>
          </a:p>
        </p:txBody>
      </p:sp>
      <p:sp>
        <p:nvSpPr>
          <p:cNvPr id="7" name="Rounded Rectangle 6"/>
          <p:cNvSpPr/>
          <p:nvPr/>
        </p:nvSpPr>
        <p:spPr>
          <a:xfrm>
            <a:off x="4617720" y="5623560"/>
            <a:ext cx="3291840" cy="82296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5715000"/>
            <a:ext cx="3017520" cy="685800"/>
          </a:xfrm>
          <a:prstGeom prst="rect">
            <a:avLst/>
          </a:prstGeom>
          <a:noFill/>
        </p:spPr>
        <p:txBody>
          <a:bodyPr wrap="square" anchor="ctr" lIns="0" rIns="0" tIns="0" bIns="0">
            <a:spAutoFit/>
          </a:bodyPr>
          <a:lstStyle/>
          <a:p>
            <a:pPr algn="l">
              <a:lnSpc>
                <a:spcPct val="108000"/>
              </a:lnSpc>
              <a:spcAft>
                <a:spcPts val="600"/>
              </a:spcAft>
            </a:pPr>
            <a:r>
              <a:rPr sz="1300" b="1" i="0">
                <a:solidFill>
                  <a:srgbClr val="2C5F2D"/>
                </a:solidFill>
                <a:latin typeface="Calibri"/>
              </a:rPr>
              <a:t>γ = 2  </a:t>
            </a:r>
            <a:r>
              <a:rPr sz="1300" b="0" i="0">
                <a:solidFill>
                  <a:srgbClr val="1F2933"/>
                </a:solidFill>
                <a:latin typeface="Calibri"/>
              </a:rPr>
              <a:t>340 groups · max 15 parks · median span 391 m</a:t>
            </a:r>
          </a:p>
        </p:txBody>
      </p:sp>
      <p:sp>
        <p:nvSpPr>
          <p:cNvPr id="9" name="Rounded Rectangle 8"/>
          <p:cNvSpPr/>
          <p:nvPr/>
        </p:nvSpPr>
        <p:spPr>
          <a:xfrm>
            <a:off x="8412480" y="5623560"/>
            <a:ext cx="3291840" cy="82296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5715000"/>
            <a:ext cx="3017520" cy="685800"/>
          </a:xfrm>
          <a:prstGeom prst="rect">
            <a:avLst/>
          </a:prstGeom>
          <a:noFill/>
        </p:spPr>
        <p:txBody>
          <a:bodyPr wrap="square" anchor="ctr" lIns="0" rIns="0" tIns="0" bIns="0">
            <a:spAutoFit/>
          </a:bodyPr>
          <a:lstStyle/>
          <a:p>
            <a:pPr algn="l">
              <a:lnSpc>
                <a:spcPct val="108000"/>
              </a:lnSpc>
              <a:spcAft>
                <a:spcPts val="600"/>
              </a:spcAft>
            </a:pPr>
            <a:r>
              <a:rPr sz="1300" b="1" i="0">
                <a:solidFill>
                  <a:srgbClr val="2C5F2D"/>
                </a:solidFill>
                <a:latin typeface="Calibri"/>
              </a:rPr>
              <a:t>γ = 4  </a:t>
            </a:r>
            <a:r>
              <a:rPr sz="1300" b="0" i="0">
                <a:solidFill>
                  <a:srgbClr val="1F2933"/>
                </a:solidFill>
                <a:latin typeface="Calibri"/>
              </a:rPr>
              <a:t>345 groups · max 15 parks · median span 370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N2 · Shared configurational corridor</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Two parks are linked if they sit on the same major movement corridor</a:t>
            </a:r>
          </a:p>
        </p:txBody>
      </p:sp>
      <p:pic>
        <p:nvPicPr>
          <p:cNvPr id="4" name="Picture 3" descr="concept_N2.png"/>
          <p:cNvPicPr>
            <a:picLocks noChangeAspect="1"/>
          </p:cNvPicPr>
          <p:nvPr/>
        </p:nvPicPr>
        <p:blipFill>
          <a:blip r:embed="rId2"/>
          <a:stretch>
            <a:fillRect/>
          </a:stretch>
        </p:blipFill>
        <p:spPr>
          <a:xfrm>
            <a:off x="458119" y="1417320"/>
            <a:ext cx="5850320" cy="4754880"/>
          </a:xfrm>
          <a:prstGeom prst="rect">
            <a:avLst/>
          </a:prstGeom>
        </p:spPr>
      </p:pic>
      <p:sp>
        <p:nvSpPr>
          <p:cNvPr id="5" name="Rounded Rectangle 4"/>
          <p:cNvSpPr/>
          <p:nvPr/>
        </p:nvSpPr>
        <p:spPr>
          <a:xfrm>
            <a:off x="6583680" y="1508760"/>
            <a:ext cx="5029200" cy="13258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12280" y="1645920"/>
            <a:ext cx="4663440" cy="1143000"/>
          </a:xfrm>
          <a:prstGeom prst="rect">
            <a:avLst/>
          </a:prstGeom>
          <a:noFill/>
        </p:spPr>
        <p:txBody>
          <a:bodyPr wrap="square" anchor="t" lIns="0" rIns="0" tIns="0" bIns="0">
            <a:spAutoFit/>
          </a:bodyPr>
          <a:lstStyle/>
          <a:p>
            <a:pPr algn="l">
              <a:lnSpc>
                <a:spcPct val="108000"/>
              </a:lnSpc>
              <a:spcAft>
                <a:spcPts val="400"/>
              </a:spcAft>
            </a:pPr>
            <a:r>
              <a:rPr sz="1600" b="1" i="0">
                <a:solidFill>
                  <a:srgbClr val="1F2933"/>
                </a:solidFill>
                <a:latin typeface="Calibri"/>
              </a:rPr>
              <a:t>NACH</a:t>
            </a:r>
            <a:r>
              <a:rPr sz="1600" b="1" i="0" baseline="-25000">
                <a:solidFill>
                  <a:srgbClr val="1F2933"/>
                </a:solidFill>
                <a:latin typeface="Calibri"/>
              </a:rPr>
              <a:t>r</a:t>
            </a:r>
            <a:r>
              <a:rPr sz="1600" b="0" i="0">
                <a:solidFill>
                  <a:srgbClr val="1F2933"/>
                </a:solidFill>
                <a:latin typeface="Calibri"/>
              </a:rPr>
              <a:t> = log(choice</a:t>
            </a:r>
            <a:r>
              <a:rPr sz="1600" b="0" i="0" baseline="-25000">
                <a:solidFill>
                  <a:srgbClr val="1F2933"/>
                </a:solidFill>
                <a:latin typeface="Calibri"/>
              </a:rPr>
              <a:t>r</a:t>
            </a:r>
            <a:r>
              <a:rPr sz="1600" b="0" i="0">
                <a:solidFill>
                  <a:srgbClr val="1F2933"/>
                </a:solidFill>
                <a:latin typeface="Calibri"/>
              </a:rPr>
              <a:t> + 1) / log(depth</a:t>
            </a:r>
            <a:r>
              <a:rPr sz="1600" b="0" i="0" baseline="-25000">
                <a:solidFill>
                  <a:srgbClr val="1F2933"/>
                </a:solidFill>
                <a:latin typeface="Calibri"/>
              </a:rPr>
              <a:t>r</a:t>
            </a:r>
            <a:r>
              <a:rPr sz="1600" b="0" i="0">
                <a:solidFill>
                  <a:srgbClr val="1F2933"/>
                </a:solidFill>
                <a:latin typeface="Calibri"/>
              </a:rPr>
              <a:t> + 3)</a:t>
            </a:r>
          </a:p>
          <a:p>
            <a:pPr algn="l">
              <a:lnSpc>
                <a:spcPct val="108000"/>
              </a:lnSpc>
              <a:spcAft>
                <a:spcPts val="400"/>
              </a:spcAft>
            </a:pPr>
            <a:r>
              <a:rPr sz="1250" b="0" i="0">
                <a:solidFill>
                  <a:srgbClr val="5F6B73"/>
                </a:solidFill>
                <a:latin typeface="Calibri"/>
              </a:rPr>
              <a:t>angular choice and total angular depth from Cityseer centrality_simplest</a:t>
            </a:r>
          </a:p>
        </p:txBody>
      </p:sp>
      <p:sp>
        <p:nvSpPr>
          <p:cNvPr id="7" name="TextBox 6"/>
          <p:cNvSpPr txBox="1"/>
          <p:nvPr/>
        </p:nvSpPr>
        <p:spPr>
          <a:xfrm>
            <a:off x="6583680" y="3063240"/>
            <a:ext cx="5029200" cy="3108960"/>
          </a:xfrm>
          <a:prstGeom prst="rect">
            <a:avLst/>
          </a:prstGeom>
          <a:noFill/>
        </p:spPr>
        <p:txBody>
          <a:bodyPr wrap="square" anchor="t" lIns="0" rIns="0" tIns="0" bIns="0">
            <a:spAutoFit/>
          </a:bodyPr>
          <a:lstStyle/>
          <a:p>
            <a:pPr algn="l" marL="228600" indent="-228600">
              <a:lnSpc>
                <a:spcPct val="108000"/>
              </a:lnSpc>
              <a:spcAft>
                <a:spcPts val="800"/>
              </a:spcAft>
              <a:buFont typeface="Arial"/>
              <a:buChar char="•"/>
            </a:pPr>
            <a:r>
              <a:rPr sz="1400" b="0" i="0">
                <a:solidFill>
                  <a:srgbClr val="1F2933"/>
                </a:solidFill>
                <a:latin typeface="Calibri"/>
              </a:rPr>
              <a:t>Strokes: chain segments whose direction changes &lt; 30° at each junction (axial-line-like continuity lines)</a:t>
            </a:r>
          </a:p>
          <a:p>
            <a:pPr algn="l" marL="228600" indent="-228600">
              <a:lnSpc>
                <a:spcPct val="108000"/>
              </a:lnSpc>
              <a:spcAft>
                <a:spcPts val="800"/>
              </a:spcAft>
              <a:buFont typeface="Arial"/>
              <a:buChar char="•"/>
            </a:pPr>
            <a:r>
              <a:rPr sz="1400" b="0" i="0">
                <a:solidFill>
                  <a:srgbClr val="1F2933"/>
                </a:solidFill>
                <a:latin typeface="Calibri"/>
              </a:rPr>
              <a:t>Corridor: strokes with the highest mean NACH covering the top p% of network length</a:t>
            </a:r>
          </a:p>
          <a:p>
            <a:pPr algn="l" marL="228600" indent="-228600">
              <a:lnSpc>
                <a:spcPct val="108000"/>
              </a:lnSpc>
              <a:spcAft>
                <a:spcPts val="800"/>
              </a:spcAft>
              <a:buFont typeface="Arial"/>
              <a:buChar char="•"/>
            </a:pPr>
            <a:r>
              <a:rPr sz="1400" b="0" i="0">
                <a:solidFill>
                  <a:srgbClr val="1F2933"/>
                </a:solidFill>
                <a:latin typeface="Calibri"/>
              </a:rPr>
              <a:t>Edge: both parks attach to the same corridor stroke (optional 3.2 km along-corridor limit)</a:t>
            </a:r>
          </a:p>
          <a:p>
            <a:pPr algn="l" marL="228600" indent="-228600">
              <a:lnSpc>
                <a:spcPct val="108000"/>
              </a:lnSpc>
              <a:spcAft>
                <a:spcPts val="800"/>
              </a:spcAft>
              <a:buFont typeface="Arial"/>
              <a:buChar char="•"/>
            </a:pPr>
            <a:r>
              <a:rPr sz="1400" b="0" i="0">
                <a:solidFill>
                  <a:srgbClr val="1F2933"/>
                </a:solidFill>
                <a:latin typeface="Calibri"/>
              </a:rPr>
              <a:t>18 settings: r ∈ {800, 1600, 3200} m × p ∈ {2, 5, 10}% × limit {3.2 km, none}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N2 · Corridor-linked parks</a:t>
            </a:r>
          </a:p>
        </p:txBody>
      </p:sp>
      <p:pic>
        <p:nvPicPr>
          <p:cNvPr id="3" name="Picture 2" descr="N2_overview.png"/>
          <p:cNvPicPr>
            <a:picLocks noChangeAspect="1"/>
          </p:cNvPicPr>
          <p:nvPr/>
        </p:nvPicPr>
        <p:blipFill>
          <a:blip r:embed="rId2"/>
          <a:stretch>
            <a:fillRect/>
          </a:stretch>
        </p:blipFill>
        <p:spPr>
          <a:xfrm>
            <a:off x="365760" y="1541270"/>
            <a:ext cx="4480559" cy="4689858"/>
          </a:xfrm>
          <a:prstGeom prst="rect">
            <a:avLst/>
          </a:prstGeom>
        </p:spPr>
      </p:pic>
      <p:pic>
        <p:nvPicPr>
          <p:cNvPr id="4" name="Picture 3" descr="N2_zoom_B.png"/>
          <p:cNvPicPr>
            <a:picLocks noChangeAspect="1"/>
          </p:cNvPicPr>
          <p:nvPr/>
        </p:nvPicPr>
        <p:blipFill>
          <a:blip r:embed="rId3"/>
          <a:stretch>
            <a:fillRect/>
          </a:stretch>
        </p:blipFill>
        <p:spPr>
          <a:xfrm>
            <a:off x="4846320" y="1318965"/>
            <a:ext cx="4846320" cy="4768710"/>
          </a:xfrm>
          <a:prstGeom prst="rect">
            <a:avLst/>
          </a:prstGeom>
        </p:spPr>
      </p:pic>
      <p:sp>
        <p:nvSpPr>
          <p:cNvPr id="5" name="TextBox 4"/>
          <p:cNvSpPr txBox="1"/>
          <p:nvPr/>
        </p:nvSpPr>
        <p:spPr>
          <a:xfrm>
            <a:off x="9875520" y="128016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100</a:t>
            </a:r>
          </a:p>
        </p:txBody>
      </p:sp>
      <p:sp>
        <p:nvSpPr>
          <p:cNvPr id="6" name="TextBox 5"/>
          <p:cNvSpPr txBox="1"/>
          <p:nvPr/>
        </p:nvSpPr>
        <p:spPr>
          <a:xfrm>
            <a:off x="9875520" y="1993391"/>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corridor groups</a:t>
            </a:r>
          </a:p>
        </p:txBody>
      </p:sp>
      <p:sp>
        <p:nvSpPr>
          <p:cNvPr id="7" name="TextBox 6"/>
          <p:cNvSpPr txBox="1"/>
          <p:nvPr/>
        </p:nvSpPr>
        <p:spPr>
          <a:xfrm>
            <a:off x="9875520" y="251460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253</a:t>
            </a:r>
          </a:p>
        </p:txBody>
      </p:sp>
      <p:sp>
        <p:nvSpPr>
          <p:cNvPr id="8" name="TextBox 7"/>
          <p:cNvSpPr txBox="1"/>
          <p:nvPr/>
        </p:nvSpPr>
        <p:spPr>
          <a:xfrm>
            <a:off x="9875520" y="322783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parks on a shared corridor</a:t>
            </a:r>
          </a:p>
        </p:txBody>
      </p:sp>
      <p:sp>
        <p:nvSpPr>
          <p:cNvPr id="9" name="TextBox 8"/>
          <p:cNvSpPr txBox="1"/>
          <p:nvPr/>
        </p:nvSpPr>
        <p:spPr>
          <a:xfrm>
            <a:off x="9875520" y="3749039"/>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371 m</a:t>
            </a:r>
          </a:p>
        </p:txBody>
      </p:sp>
      <p:sp>
        <p:nvSpPr>
          <p:cNvPr id="10" name="TextBox 9"/>
          <p:cNvSpPr txBox="1"/>
          <p:nvPr/>
        </p:nvSpPr>
        <p:spPr>
          <a:xfrm>
            <a:off x="9875520" y="446227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median walking span within a group</a:t>
            </a:r>
          </a:p>
        </p:txBody>
      </p:sp>
      <p:sp>
        <p:nvSpPr>
          <p:cNvPr id="11" name="TextBox 10"/>
          <p:cNvSpPr txBox="1"/>
          <p:nvPr/>
        </p:nvSpPr>
        <p:spPr>
          <a:xfrm>
            <a:off x="9875520" y="5029200"/>
            <a:ext cx="2103120" cy="1188720"/>
          </a:xfrm>
          <a:prstGeom prst="rect">
            <a:avLst/>
          </a:prstGeom>
          <a:noFill/>
        </p:spPr>
        <p:txBody>
          <a:bodyPr wrap="square" anchor="t" lIns="0" rIns="0" tIns="0" bIns="0">
            <a:spAutoFit/>
          </a:bodyPr>
          <a:lstStyle/>
          <a:p>
            <a:pPr algn="l">
              <a:lnSpc>
                <a:spcPct val="108000"/>
              </a:lnSpc>
              <a:spcAft>
                <a:spcPts val="600"/>
              </a:spcAft>
            </a:pPr>
            <a:r>
              <a:rPr sz="1150" b="0" i="0">
                <a:solidFill>
                  <a:srgbClr val="5F6B73"/>
                </a:solidFill>
                <a:latin typeface="Calibri"/>
              </a:rPr>
              <a:t>Most parks are off the top corridors — N2 isolation means "not embedded in a major corridor".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N3 · Excess few-turn field overlap</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Do two parks share the same few-turn field more than their distance implies?</a:t>
            </a:r>
          </a:p>
        </p:txBody>
      </p:sp>
      <p:pic>
        <p:nvPicPr>
          <p:cNvPr id="4" name="Picture 3" descr="concept_N3.png"/>
          <p:cNvPicPr>
            <a:picLocks noChangeAspect="1"/>
          </p:cNvPicPr>
          <p:nvPr/>
        </p:nvPicPr>
        <p:blipFill>
          <a:blip r:embed="rId2"/>
          <a:stretch>
            <a:fillRect/>
          </a:stretch>
        </p:blipFill>
        <p:spPr>
          <a:xfrm>
            <a:off x="1008467" y="1417320"/>
            <a:ext cx="4566744" cy="5029199"/>
          </a:xfrm>
          <a:prstGeom prst="rect">
            <a:avLst/>
          </a:prstGeom>
        </p:spPr>
      </p:pic>
      <p:sp>
        <p:nvSpPr>
          <p:cNvPr id="5" name="TextBox 4"/>
          <p:cNvSpPr txBox="1"/>
          <p:nvPr/>
        </p:nvSpPr>
        <p:spPr>
          <a:xfrm>
            <a:off x="6583680" y="1600200"/>
            <a:ext cx="5029200" cy="3291840"/>
          </a:xfrm>
          <a:prstGeom prst="rect">
            <a:avLst/>
          </a:prstGeom>
          <a:noFill/>
        </p:spPr>
        <p:txBody>
          <a:bodyPr wrap="square" anchor="t" lIns="0" rIns="0" tIns="0" bIns="0">
            <a:spAutoFit/>
          </a:bodyPr>
          <a:lstStyle/>
          <a:p>
            <a:pPr algn="l" marL="228600" indent="-228600">
              <a:lnSpc>
                <a:spcPct val="108000"/>
              </a:lnSpc>
              <a:spcAft>
                <a:spcPts val="800"/>
              </a:spcAft>
              <a:buFont typeface="Arial"/>
              <a:buChar char="•"/>
            </a:pPr>
            <a:r>
              <a:rPr sz="1400" b="0" i="0">
                <a:solidFill>
                  <a:srgbClr val="1F2933"/>
                </a:solidFill>
                <a:latin typeface="Calibri"/>
              </a:rPr>
              <a:t>Field = segments reachable with angular cost ≤ θc and path length ≤ R</a:t>
            </a:r>
          </a:p>
          <a:p>
            <a:pPr algn="l" marL="228600" indent="-228600">
              <a:lnSpc>
                <a:spcPct val="108000"/>
              </a:lnSpc>
              <a:spcAft>
                <a:spcPts val="800"/>
              </a:spcAft>
              <a:buFont typeface="Arial"/>
              <a:buChar char="•"/>
            </a:pPr>
            <a:r>
              <a:rPr sz="1400" b="0" i="0">
                <a:solidFill>
                  <a:srgbClr val="1F2933"/>
                </a:solidFill>
                <a:latin typeface="Calibri"/>
              </a:rPr>
              <a:t>J = length-weighted Jaccard of two parks' fields; computed for angular and metric fields</a:t>
            </a:r>
          </a:p>
          <a:p>
            <a:pPr algn="l" marL="228600" indent="-228600">
              <a:lnSpc>
                <a:spcPct val="108000"/>
              </a:lnSpc>
              <a:spcAft>
                <a:spcPts val="800"/>
              </a:spcAft>
              <a:buFont typeface="Arial"/>
              <a:buChar char="•"/>
            </a:pPr>
            <a:r>
              <a:rPr sz="1400" b="0" i="0">
                <a:solidFill>
                  <a:srgbClr val="1F2933"/>
                </a:solidFill>
                <a:latin typeface="Calibri"/>
              </a:rPr>
              <a:t>Edge if J</a:t>
            </a:r>
            <a:r>
              <a:rPr sz="1400" b="0" i="0" baseline="-25000">
                <a:solidFill>
                  <a:srgbClr val="1F2933"/>
                </a:solidFill>
                <a:latin typeface="Calibri"/>
              </a:rPr>
              <a:t>ang</a:t>
            </a:r>
            <a:r>
              <a:rPr sz="1400" b="0" i="0">
                <a:solidFill>
                  <a:srgbClr val="1F2933"/>
                </a:solidFill>
                <a:latin typeface="Calibri"/>
              </a:rPr>
              <a:t> ≥ τ and J</a:t>
            </a:r>
            <a:r>
              <a:rPr sz="1400" b="0" i="0" baseline="-25000">
                <a:solidFill>
                  <a:srgbClr val="1F2933"/>
                </a:solidFill>
                <a:latin typeface="Calibri"/>
              </a:rPr>
              <a:t>ang</a:t>
            </a:r>
            <a:r>
              <a:rPr sz="1400" b="0" i="0">
                <a:solidFill>
                  <a:srgbClr val="1F2933"/>
                </a:solidFill>
                <a:latin typeface="Calibri"/>
              </a:rPr>
              <a:t> / J</a:t>
            </a:r>
            <a:r>
              <a:rPr sz="1400" b="0" i="0" baseline="-25000">
                <a:solidFill>
                  <a:srgbClr val="1F2933"/>
                </a:solidFill>
                <a:latin typeface="Calibri"/>
              </a:rPr>
              <a:t>met</a:t>
            </a:r>
            <a:r>
              <a:rPr sz="1400" b="0" i="0">
                <a:solidFill>
                  <a:srgbClr val="1F2933"/>
                </a:solidFill>
                <a:latin typeface="Calibri"/>
              </a:rPr>
              <a:t> ≥ κ</a:t>
            </a:r>
          </a:p>
          <a:p>
            <a:pPr algn="l" marL="228600" indent="-228600">
              <a:lnSpc>
                <a:spcPct val="108000"/>
              </a:lnSpc>
              <a:spcAft>
                <a:spcPts val="800"/>
              </a:spcAft>
              <a:buFont typeface="Arial"/>
              <a:buChar char="•"/>
            </a:pPr>
            <a:r>
              <a:rPr sz="1400" b="0" i="0">
                <a:solidFill>
                  <a:srgbClr val="1F2933"/>
                </a:solidFill>
                <a:latin typeface="Calibri"/>
              </a:rPr>
              <a:t>16 settings: θc ∈ {45, 90}° × R ∈ {800, 1600} m × τ ∈ {0.1, 0.2} × κ ∈ {1.0, 1.25}</a:t>
            </a:r>
          </a:p>
        </p:txBody>
      </p:sp>
      <p:sp>
        <p:nvSpPr>
          <p:cNvPr id="6" name="Rounded Rectangle 5"/>
          <p:cNvSpPr/>
          <p:nvPr/>
        </p:nvSpPr>
        <p:spPr>
          <a:xfrm>
            <a:off x="6583680" y="4709160"/>
            <a:ext cx="5029200" cy="132588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4828032"/>
            <a:ext cx="4663440" cy="1143000"/>
          </a:xfrm>
          <a:prstGeom prst="rect">
            <a:avLst/>
          </a:prstGeom>
          <a:noFill/>
        </p:spPr>
        <p:txBody>
          <a:bodyPr wrap="square" anchor="t" lIns="0" rIns="0" tIns="0" bIns="0">
            <a:spAutoFit/>
          </a:bodyPr>
          <a:lstStyle/>
          <a:p>
            <a:pPr algn="l">
              <a:lnSpc>
                <a:spcPct val="108000"/>
              </a:lnSpc>
              <a:spcAft>
                <a:spcPts val="600"/>
              </a:spcAft>
            </a:pPr>
            <a:r>
              <a:rPr sz="1250" b="1" i="0">
                <a:solidFill>
                  <a:srgbClr val="1F2933"/>
                </a:solidFill>
                <a:latin typeface="Calibri"/>
              </a:rPr>
              <a:t>Toy grid: </a:t>
            </a:r>
            <a:r>
              <a:rPr sz="1250" b="0" i="0">
                <a:solidFill>
                  <a:srgbClr val="1F2933"/>
                </a:solidFill>
                <a:latin typeface="Calibri"/>
              </a:rPr>
              <a:t>the near pair shares fields only because it is close (ratio 0.41); the far pair on one street keeps sharing its few-turn field (ratio 1.25 &gt; κ = 1.0). Only such pairs become N3 edges, so N3 is sparse.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N3 · A sparse, weak definition</a:t>
            </a:r>
          </a:p>
        </p:txBody>
      </p:sp>
      <p:pic>
        <p:nvPicPr>
          <p:cNvPr id="3" name="Picture 2" descr="N3_overview.png"/>
          <p:cNvPicPr>
            <a:picLocks noChangeAspect="1"/>
          </p:cNvPicPr>
          <p:nvPr/>
        </p:nvPicPr>
        <p:blipFill>
          <a:blip r:embed="rId2"/>
          <a:stretch>
            <a:fillRect/>
          </a:stretch>
        </p:blipFill>
        <p:spPr>
          <a:xfrm>
            <a:off x="365760" y="1541270"/>
            <a:ext cx="4480559" cy="4689858"/>
          </a:xfrm>
          <a:prstGeom prst="rect">
            <a:avLst/>
          </a:prstGeom>
        </p:spPr>
      </p:pic>
      <p:pic>
        <p:nvPicPr>
          <p:cNvPr id="4" name="Picture 3" descr="N3_zoom_B.png"/>
          <p:cNvPicPr>
            <a:picLocks noChangeAspect="1"/>
          </p:cNvPicPr>
          <p:nvPr/>
        </p:nvPicPr>
        <p:blipFill>
          <a:blip r:embed="rId3"/>
          <a:stretch>
            <a:fillRect/>
          </a:stretch>
        </p:blipFill>
        <p:spPr>
          <a:xfrm>
            <a:off x="4846320" y="1318965"/>
            <a:ext cx="4846320" cy="4768710"/>
          </a:xfrm>
          <a:prstGeom prst="rect">
            <a:avLst/>
          </a:prstGeom>
        </p:spPr>
      </p:pic>
      <p:sp>
        <p:nvSpPr>
          <p:cNvPr id="5" name="TextBox 4"/>
          <p:cNvSpPr txBox="1"/>
          <p:nvPr/>
        </p:nvSpPr>
        <p:spPr>
          <a:xfrm>
            <a:off x="9875520" y="128016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47</a:t>
            </a:r>
          </a:p>
        </p:txBody>
      </p:sp>
      <p:sp>
        <p:nvSpPr>
          <p:cNvPr id="6" name="TextBox 5"/>
          <p:cNvSpPr txBox="1"/>
          <p:nvPr/>
        </p:nvSpPr>
        <p:spPr>
          <a:xfrm>
            <a:off x="9875520" y="1993391"/>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groups (mostly pairs)</a:t>
            </a:r>
          </a:p>
        </p:txBody>
      </p:sp>
      <p:sp>
        <p:nvSpPr>
          <p:cNvPr id="7" name="TextBox 6"/>
          <p:cNvSpPr txBox="1"/>
          <p:nvPr/>
        </p:nvSpPr>
        <p:spPr>
          <a:xfrm>
            <a:off x="9875520" y="2514600"/>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2C5F2D"/>
                </a:solidFill>
                <a:latin typeface="Cambria"/>
              </a:rPr>
              <a:t>8</a:t>
            </a:r>
          </a:p>
        </p:txBody>
      </p:sp>
      <p:sp>
        <p:nvSpPr>
          <p:cNvPr id="8" name="TextBox 7"/>
          <p:cNvSpPr txBox="1"/>
          <p:nvPr/>
        </p:nvSpPr>
        <p:spPr>
          <a:xfrm>
            <a:off x="9875520" y="322783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largest group</a:t>
            </a:r>
          </a:p>
        </p:txBody>
      </p:sp>
      <p:sp>
        <p:nvSpPr>
          <p:cNvPr id="9" name="TextBox 8"/>
          <p:cNvSpPr txBox="1"/>
          <p:nvPr/>
        </p:nvSpPr>
        <p:spPr>
          <a:xfrm>
            <a:off x="9875520" y="3749039"/>
            <a:ext cx="2103120" cy="685800"/>
          </a:xfrm>
          <a:prstGeom prst="rect">
            <a:avLst/>
          </a:prstGeom>
          <a:noFill/>
        </p:spPr>
        <p:txBody>
          <a:bodyPr wrap="square" anchor="t" lIns="0" rIns="0" tIns="0" bIns="0">
            <a:spAutoFit/>
          </a:bodyPr>
          <a:lstStyle/>
          <a:p>
            <a:pPr algn="l">
              <a:lnSpc>
                <a:spcPct val="108000"/>
              </a:lnSpc>
              <a:spcAft>
                <a:spcPts val="600"/>
              </a:spcAft>
            </a:pPr>
            <a:r>
              <a:rPr sz="4000" b="1" i="0">
                <a:solidFill>
                  <a:srgbClr val="C0392B"/>
                </a:solidFill>
                <a:latin typeface="Cambria"/>
              </a:rPr>
              <a:t>1,619</a:t>
            </a:r>
          </a:p>
        </p:txBody>
      </p:sp>
      <p:sp>
        <p:nvSpPr>
          <p:cNvPr id="10" name="TextBox 9"/>
          <p:cNvSpPr txBox="1"/>
          <p:nvPr/>
        </p:nvSpPr>
        <p:spPr>
          <a:xfrm>
            <a:off x="9875520" y="4462272"/>
            <a:ext cx="2103120" cy="640080"/>
          </a:xfrm>
          <a:prstGeom prst="rect">
            <a:avLst/>
          </a:prstGeom>
          <a:noFill/>
        </p:spPr>
        <p:txBody>
          <a:bodyPr wrap="square" anchor="t" lIns="0" rIns="0" tIns="0" bIns="0">
            <a:spAutoFit/>
          </a:bodyPr>
          <a:lstStyle/>
          <a:p>
            <a:pPr algn="l">
              <a:lnSpc>
                <a:spcPct val="108000"/>
              </a:lnSpc>
              <a:spcAft>
                <a:spcPts val="600"/>
              </a:spcAft>
            </a:pPr>
            <a:r>
              <a:rPr sz="1200" b="0" i="0">
                <a:solidFill>
                  <a:srgbClr val="5F6B73"/>
                </a:solidFill>
                <a:latin typeface="Calibri"/>
              </a:rPr>
              <a:t>parks never in an N3 edge in ≥ 80% of settings</a:t>
            </a:r>
          </a:p>
        </p:txBody>
      </p:sp>
      <p:sp>
        <p:nvSpPr>
          <p:cNvPr id="11" name="TextBox 10"/>
          <p:cNvSpPr txBox="1"/>
          <p:nvPr/>
        </p:nvSpPr>
        <p:spPr>
          <a:xfrm>
            <a:off x="9875520" y="5029200"/>
            <a:ext cx="2103120" cy="1188720"/>
          </a:xfrm>
          <a:prstGeom prst="rect">
            <a:avLst/>
          </a:prstGeom>
          <a:noFill/>
        </p:spPr>
        <p:txBody>
          <a:bodyPr wrap="square" anchor="t" lIns="0" rIns="0" tIns="0" bIns="0">
            <a:spAutoFit/>
          </a:bodyPr>
          <a:lstStyle/>
          <a:p>
            <a:pPr algn="l">
              <a:lnSpc>
                <a:spcPct val="108000"/>
              </a:lnSpc>
              <a:spcAft>
                <a:spcPts val="600"/>
              </a:spcAft>
            </a:pPr>
            <a:r>
              <a:rPr sz="1150" b="0" i="0">
                <a:solidFill>
                  <a:srgbClr val="5F6B73"/>
                </a:solidFill>
                <a:latin typeface="Calibri"/>
              </a:rPr>
              <a:t>Few-turn fields rarely overlap more than distance predicts: report N3 as weak.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From park graphs to robust groups</a:t>
            </a:r>
          </a:p>
        </p:txBody>
      </p:sp>
      <p:graphicFrame>
        <p:nvGraphicFramePr>
          <p:cNvPr id="3" name="Chart 2"/>
          <p:cNvGraphicFramePr>
            <a:graphicFrameLocks noGrp="1"/>
          </p:cNvGraphicFramePr>
          <p:nvPr/>
        </p:nvGraphicFramePr>
        <p:xfrm>
          <a:off x="457200" y="1234440"/>
          <a:ext cx="6035040" cy="4846320"/>
        </p:xfrm>
        <a:graphic>
          <a:graphicData uri="http://schemas.openxmlformats.org/drawingml/2006/chart">
            <c:chart xmlns:c="http://schemas.openxmlformats.org/drawingml/2006/chart" r:id="rId2"/>
          </a:graphicData>
        </a:graphic>
      </p:graphicFrame>
      <p:sp>
        <p:nvSpPr>
          <p:cNvPr id="4" name="TextBox 3"/>
          <p:cNvSpPr txBox="1"/>
          <p:nvPr/>
        </p:nvSpPr>
        <p:spPr>
          <a:xfrm>
            <a:off x="6858000" y="1371600"/>
            <a:ext cx="4846320" cy="4754880"/>
          </a:xfrm>
          <a:prstGeom prst="rect">
            <a:avLst/>
          </a:prstGeom>
          <a:noFill/>
        </p:spPr>
        <p:txBody>
          <a:bodyPr wrap="square" anchor="t" lIns="0" rIns="0" tIns="0" bIns="0">
            <a:spAutoFit/>
          </a:bodyPr>
          <a:lstStyle/>
          <a:p>
            <a:pPr algn="l">
              <a:lnSpc>
                <a:spcPct val="108000"/>
              </a:lnSpc>
              <a:spcAft>
                <a:spcPts val="1200"/>
              </a:spcAft>
            </a:pPr>
            <a:r>
              <a:rPr sz="1400" b="1" i="0">
                <a:solidFill>
                  <a:srgbClr val="E07A3F"/>
                </a:solidFill>
                <a:latin typeface="Calibri"/>
              </a:rPr>
              <a:t>Percolation  </a:t>
            </a:r>
            <a:r>
              <a:rPr sz="1400" b="0" i="0">
                <a:solidFill>
                  <a:srgbClr val="1F2933"/>
                </a:solidFill>
                <a:latin typeface="Calibri"/>
              </a:rPr>
              <a:t>Once θ ≥ 45° at R ≥ 1.6 km, or one turn is allowed, most of a borough's parks fall into one component — a grid-city finding, but components can no longer separate groups. Queens and Staten Island percolate much later.</a:t>
            </a:r>
          </a:p>
          <a:p>
            <a:pPr algn="l">
              <a:lnSpc>
                <a:spcPct val="108000"/>
              </a:lnSpc>
              <a:spcAft>
                <a:spcPts val="1200"/>
              </a:spcAft>
            </a:pPr>
            <a:r>
              <a:rPr sz="1400" b="1" i="0">
                <a:solidFill>
                  <a:srgbClr val="2C5F2D"/>
                </a:solidFill>
                <a:latin typeface="Calibri"/>
              </a:rPr>
              <a:t>Communities  </a:t>
            </a:r>
            <a:r>
              <a:rPr sz="1400" b="0" i="0">
                <a:solidFill>
                  <a:srgbClr val="1F2933"/>
                </a:solidFill>
                <a:latin typeface="Calibri"/>
              </a:rPr>
              <a:t>In each setting, Louvain communities find internally dense sets of parks.</a:t>
            </a:r>
          </a:p>
          <a:p>
            <a:pPr algn="l">
              <a:lnSpc>
                <a:spcPct val="108000"/>
              </a:lnSpc>
              <a:spcAft>
                <a:spcPts val="1200"/>
              </a:spcAft>
            </a:pPr>
            <a:r>
              <a:rPr sz="1400" b="1" i="0">
                <a:solidFill>
                  <a:srgbClr val="2C5F2D"/>
                </a:solidFill>
                <a:latin typeface="Calibri"/>
              </a:rPr>
              <a:t>Consensus  </a:t>
            </a:r>
            <a:r>
              <a:rPr sz="1400" b="0" i="0">
                <a:solidFill>
                  <a:srgbClr val="1F2933"/>
                </a:solidFill>
                <a:latin typeface="Calibri"/>
              </a:rPr>
              <a:t>Co-membership share across settings → average-linkage clusters (≥ 0.5), then split to a 10-minute walking diameter = robust groups.</a:t>
            </a:r>
          </a:p>
          <a:p>
            <a:pPr algn="l">
              <a:lnSpc>
                <a:spcPct val="108000"/>
              </a:lnSpc>
              <a:spcAft>
                <a:spcPts val="1200"/>
              </a:spcAft>
            </a:pPr>
            <a:r>
              <a:rPr sz="1400" b="1" i="0">
                <a:solidFill>
                  <a:srgbClr val="C0392B"/>
                </a:solidFill>
                <a:latin typeface="Calibri"/>
              </a:rPr>
              <a:t>Isolation  </a:t>
            </a:r>
            <a:r>
              <a:rPr sz="1400" b="0" i="0">
                <a:solidFill>
                  <a:srgbClr val="1F2933"/>
                </a:solidFill>
                <a:latin typeface="Calibri"/>
              </a:rPr>
              <a:t>IsolationPersistence = share of settings with no configurational edge; ≥ 0.8 = robust isolated.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Walkable groups: a 10-minute limit</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Configuration decides who can be grouped; walking distance caps how far a group can stretch</a:t>
            </a:r>
          </a:p>
        </p:txBody>
      </p:sp>
      <p:pic>
        <p:nvPicPr>
          <p:cNvPr id="4" name="Picture 3" descr="walk_split_example.png"/>
          <p:cNvPicPr>
            <a:picLocks noChangeAspect="1"/>
          </p:cNvPicPr>
          <p:nvPr/>
        </p:nvPicPr>
        <p:blipFill>
          <a:blip r:embed="rId2"/>
          <a:stretch>
            <a:fillRect/>
          </a:stretch>
        </p:blipFill>
        <p:spPr>
          <a:xfrm>
            <a:off x="483604" y="1417320"/>
            <a:ext cx="5159270" cy="5120640"/>
          </a:xfrm>
          <a:prstGeom prst="rect">
            <a:avLst/>
          </a:prstGeom>
        </p:spPr>
      </p:pic>
      <p:sp>
        <p:nvSpPr>
          <p:cNvPr id="5" name="TextBox 4"/>
          <p:cNvSpPr txBox="1"/>
          <p:nvPr/>
        </p:nvSpPr>
        <p:spPr>
          <a:xfrm>
            <a:off x="6126480" y="1463040"/>
            <a:ext cx="5486400" cy="1188720"/>
          </a:xfrm>
          <a:prstGeom prst="rect">
            <a:avLst/>
          </a:prstGeom>
          <a:noFill/>
        </p:spPr>
        <p:txBody>
          <a:bodyPr wrap="square" anchor="t" lIns="0" rIns="0" tIns="0" bIns="0">
            <a:spAutoFit/>
          </a:bodyPr>
          <a:lstStyle/>
          <a:p>
            <a:pPr algn="l" marL="228600" indent="-228600">
              <a:lnSpc>
                <a:spcPct val="108000"/>
              </a:lnSpc>
              <a:spcAft>
                <a:spcPts val="600"/>
              </a:spcAft>
              <a:buFont typeface="Arial"/>
              <a:buChar char="•"/>
            </a:pPr>
            <a:r>
              <a:rPr sz="1350" b="0" i="0">
                <a:solidFill>
                  <a:srgbClr val="1F2933"/>
                </a:solidFill>
                <a:latin typeface="Calibri"/>
              </a:rPr>
              <a:t>Within each consensus group, complete-linkage clustering on shortest walking distance, cut at 800 m</a:t>
            </a:r>
          </a:p>
          <a:p>
            <a:pPr algn="l" marL="228600" indent="-228600">
              <a:lnSpc>
                <a:spcPct val="108000"/>
              </a:lnSpc>
              <a:spcAft>
                <a:spcPts val="600"/>
              </a:spcAft>
              <a:buFont typeface="Arial"/>
              <a:buChar char="•"/>
            </a:pPr>
            <a:r>
              <a:rPr sz="1350" b="0" i="0">
                <a:solidFill>
                  <a:srgbClr val="1F2933"/>
                </a:solidFill>
                <a:latin typeface="Calibri"/>
              </a:rPr>
              <a:t>Every pair of parks in a final group is ≤ 10 minutes apart on foot; parks with no such partner are flagged "beyond walk limit"</a:t>
            </a:r>
          </a:p>
        </p:txBody>
      </p:sp>
      <p:graphicFrame>
        <p:nvGraphicFramePr>
          <p:cNvPr id="6" name="Table 5"/>
          <p:cNvGraphicFramePr>
            <a:graphicFrameLocks noGrp="1"/>
          </p:cNvGraphicFramePr>
          <p:nvPr/>
        </p:nvGraphicFramePr>
        <p:xfrm>
          <a:off x="6126480" y="2926080"/>
          <a:ext cx="5486400" cy="1645920"/>
        </p:xfrm>
        <a:graphic>
          <a:graphicData uri="http://schemas.openxmlformats.org/drawingml/2006/table">
            <a:tbl>
              <a:tblPr firstRow="1">
                <a:tableStyleId>{5C22544A-7EE6-4342-B048-85BDC9FD1C3A}</a:tableStyleId>
              </a:tblPr>
              <a:tblGrid>
                <a:gridCol w="1737360"/>
                <a:gridCol w="1097280"/>
                <a:gridCol w="1188720"/>
                <a:gridCol w="1463040"/>
              </a:tblGrid>
              <a:tr h="411480">
                <a:tc>
                  <a:txBody>
                    <a:bodyPr/>
                    <a:lstStyle/>
                    <a:p/>
                  </a:txBody>
                  <a:tcPr>
                    <a:solidFill>
                      <a:srgbClr val="2C5F2D"/>
                    </a:solidFill>
                  </a:tcPr>
                </a:tc>
                <a:tc>
                  <a:txBody>
                    <a:bodyPr/>
                    <a:lstStyle/>
                    <a:p>
                      <a:r>
                        <a:rPr sz="1300" b="1">
                          <a:solidFill>
                            <a:srgbClr val="FFFFFF"/>
                          </a:solidFill>
                          <a:latin typeface="Calibri"/>
                        </a:rPr>
                        <a:t>groups</a:t>
                      </a:r>
                    </a:p>
                  </a:txBody>
                  <a:tcPr>
                    <a:solidFill>
                      <a:srgbClr val="2C5F2D"/>
                    </a:solidFill>
                  </a:tcPr>
                </a:tc>
                <a:tc>
                  <a:txBody>
                    <a:bodyPr/>
                    <a:lstStyle/>
                    <a:p>
                      <a:r>
                        <a:rPr sz="1300" b="1">
                          <a:solidFill>
                            <a:srgbClr val="FFFFFF"/>
                          </a:solidFill>
                          <a:latin typeface="Calibri"/>
                        </a:rPr>
                        <a:t>largest group</a:t>
                      </a:r>
                    </a:p>
                  </a:txBody>
                  <a:tcPr>
                    <a:solidFill>
                      <a:srgbClr val="2C5F2D"/>
                    </a:solidFill>
                  </a:tcPr>
                </a:tc>
                <a:tc>
                  <a:txBody>
                    <a:bodyPr/>
                    <a:lstStyle/>
                    <a:p>
                      <a:r>
                        <a:rPr sz="1300" b="1">
                          <a:solidFill>
                            <a:srgbClr val="FFFFFF"/>
                          </a:solidFill>
                          <a:latin typeface="Calibri"/>
                        </a:rPr>
                        <a:t>median walking span</a:t>
                      </a:r>
                    </a:p>
                  </a:txBody>
                  <a:tcPr>
                    <a:solidFill>
                      <a:srgbClr val="2C5F2D"/>
                    </a:solidFill>
                  </a:tcPr>
                </a:tc>
              </a:tr>
              <a:tr h="411480">
                <a:tc>
                  <a:txBody>
                    <a:bodyPr/>
                    <a:lstStyle/>
                    <a:p>
                      <a:r>
                        <a:rPr sz="1300" b="1">
                          <a:solidFill>
                            <a:srgbClr val="1F2933"/>
                          </a:solidFill>
                          <a:latin typeface="Calibri"/>
                        </a:rPr>
                        <a:t>N1 few-turn (γ = 2)</a:t>
                      </a:r>
                    </a:p>
                  </a:txBody>
                  <a:tcPr>
                    <a:solidFill>
                      <a:srgbClr val="FFFFFF"/>
                    </a:solidFill>
                  </a:tcPr>
                </a:tc>
                <a:tc>
                  <a:txBody>
                    <a:bodyPr/>
                    <a:lstStyle/>
                    <a:p>
                      <a:r>
                        <a:rPr sz="1300" b="0">
                          <a:solidFill>
                            <a:srgbClr val="1F2933"/>
                          </a:solidFill>
                          <a:latin typeface="Calibri"/>
                        </a:rPr>
                        <a:t>217 → 340</a:t>
                      </a:r>
                    </a:p>
                  </a:txBody>
                  <a:tcPr>
                    <a:solidFill>
                      <a:srgbClr val="FFFFFF"/>
                    </a:solidFill>
                  </a:tcPr>
                </a:tc>
                <a:tc>
                  <a:txBody>
                    <a:bodyPr/>
                    <a:lstStyle/>
                    <a:p>
                      <a:r>
                        <a:rPr sz="1300" b="0">
                          <a:solidFill>
                            <a:srgbClr val="1F2933"/>
                          </a:solidFill>
                          <a:latin typeface="Calibri"/>
                        </a:rPr>
                        <a:t>41 → 15</a:t>
                      </a:r>
                    </a:p>
                  </a:txBody>
                  <a:tcPr>
                    <a:solidFill>
                      <a:srgbClr val="FFFFFF"/>
                    </a:solidFill>
                  </a:tcPr>
                </a:tc>
                <a:tc>
                  <a:txBody>
                    <a:bodyPr/>
                    <a:lstStyle/>
                    <a:p>
                      <a:r>
                        <a:rPr sz="1300" b="0">
                          <a:solidFill>
                            <a:srgbClr val="1F2933"/>
                          </a:solidFill>
                          <a:latin typeface="Calibri"/>
                        </a:rPr>
                        <a:t>467 → 391 m</a:t>
                      </a:r>
                    </a:p>
                  </a:txBody>
                  <a:tcPr>
                    <a:solidFill>
                      <a:srgbClr val="FFFFFF"/>
                    </a:solidFill>
                  </a:tcPr>
                </a:tc>
              </a:tr>
              <a:tr h="411480">
                <a:tc>
                  <a:txBody>
                    <a:bodyPr/>
                    <a:lstStyle/>
                    <a:p>
                      <a:r>
                        <a:rPr sz="1300" b="1">
                          <a:solidFill>
                            <a:srgbClr val="1F2933"/>
                          </a:solidFill>
                          <a:latin typeface="Calibri"/>
                        </a:rPr>
                        <a:t>N2 corridor</a:t>
                      </a:r>
                    </a:p>
                  </a:txBody>
                  <a:tcPr>
                    <a:solidFill>
                      <a:srgbClr val="EEF3EA"/>
                    </a:solidFill>
                  </a:tcPr>
                </a:tc>
                <a:tc>
                  <a:txBody>
                    <a:bodyPr/>
                    <a:lstStyle/>
                    <a:p>
                      <a:r>
                        <a:rPr sz="1300" b="0">
                          <a:solidFill>
                            <a:srgbClr val="1F2933"/>
                          </a:solidFill>
                          <a:latin typeface="Calibri"/>
                        </a:rPr>
                        <a:t>73 → 100</a:t>
                      </a:r>
                    </a:p>
                  </a:txBody>
                  <a:tcPr>
                    <a:solidFill>
                      <a:srgbClr val="EEF3EA"/>
                    </a:solidFill>
                  </a:tcPr>
                </a:tc>
                <a:tc>
                  <a:txBody>
                    <a:bodyPr/>
                    <a:lstStyle/>
                    <a:p>
                      <a:r>
                        <a:rPr sz="1300" b="0">
                          <a:solidFill>
                            <a:srgbClr val="1F2933"/>
                          </a:solidFill>
                          <a:latin typeface="Calibri"/>
                        </a:rPr>
                        <a:t>22 → 7</a:t>
                      </a:r>
                    </a:p>
                  </a:txBody>
                  <a:tcPr>
                    <a:solidFill>
                      <a:srgbClr val="EEF3EA"/>
                    </a:solidFill>
                  </a:tcPr>
                </a:tc>
                <a:tc>
                  <a:txBody>
                    <a:bodyPr/>
                    <a:lstStyle/>
                    <a:p>
                      <a:r>
                        <a:rPr sz="1300" b="0">
                          <a:solidFill>
                            <a:srgbClr val="1F2933"/>
                          </a:solidFill>
                          <a:latin typeface="Calibri"/>
                        </a:rPr>
                        <a:t>2,053 → 371 m</a:t>
                      </a:r>
                    </a:p>
                  </a:txBody>
                  <a:tcPr>
                    <a:solidFill>
                      <a:srgbClr val="EEF3EA"/>
                    </a:solidFill>
                  </a:tcPr>
                </a:tc>
              </a:tr>
              <a:tr h="411480">
                <a:tc>
                  <a:txBody>
                    <a:bodyPr/>
                    <a:lstStyle/>
                    <a:p>
                      <a:r>
                        <a:rPr sz="1300" b="1">
                          <a:solidFill>
                            <a:srgbClr val="1F2933"/>
                          </a:solidFill>
                          <a:latin typeface="Calibri"/>
                        </a:rPr>
                        <a:t>N3 field</a:t>
                      </a:r>
                    </a:p>
                  </a:txBody>
                  <a:tcPr>
                    <a:solidFill>
                      <a:srgbClr val="FFFFFF"/>
                    </a:solidFill>
                  </a:tcPr>
                </a:tc>
                <a:tc>
                  <a:txBody>
                    <a:bodyPr/>
                    <a:lstStyle/>
                    <a:p>
                      <a:r>
                        <a:rPr sz="1300" b="0">
                          <a:solidFill>
                            <a:srgbClr val="1F2933"/>
                          </a:solidFill>
                          <a:latin typeface="Calibri"/>
                        </a:rPr>
                        <a:t>63 → 47</a:t>
                      </a:r>
                    </a:p>
                  </a:txBody>
                  <a:tcPr>
                    <a:solidFill>
                      <a:srgbClr val="FFFFFF"/>
                    </a:solidFill>
                  </a:tcPr>
                </a:tc>
                <a:tc>
                  <a:txBody>
                    <a:bodyPr/>
                    <a:lstStyle/>
                    <a:p>
                      <a:r>
                        <a:rPr sz="1300" b="0">
                          <a:solidFill>
                            <a:srgbClr val="1F2933"/>
                          </a:solidFill>
                          <a:latin typeface="Calibri"/>
                        </a:rPr>
                        <a:t>8 → 8</a:t>
                      </a:r>
                    </a:p>
                  </a:txBody>
                  <a:tcPr>
                    <a:solidFill>
                      <a:srgbClr val="FFFFFF"/>
                    </a:solidFill>
                  </a:tcPr>
                </a:tc>
                <a:tc>
                  <a:txBody>
                    <a:bodyPr/>
                    <a:lstStyle/>
                    <a:p>
                      <a:r>
                        <a:rPr sz="1300" b="0">
                          <a:solidFill>
                            <a:srgbClr val="1F2933"/>
                          </a:solidFill>
                          <a:latin typeface="Calibri"/>
                        </a:rPr>
                        <a:t>696 → 414 m</a:t>
                      </a:r>
                    </a:p>
                  </a:txBody>
                  <a:tcPr>
                    <a:solidFill>
                      <a:srgbClr val="FFFFFF"/>
                    </a:solidFill>
                  </a:tcPr>
                </a:tc>
              </a:tr>
            </a:tbl>
          </a:graphicData>
        </a:graphic>
      </p:graphicFrame>
      <p:sp>
        <p:nvSpPr>
          <p:cNvPr id="7" name="Rounded Rectangle 6"/>
          <p:cNvSpPr/>
          <p:nvPr/>
        </p:nvSpPr>
        <p:spPr>
          <a:xfrm>
            <a:off x="6126480" y="4846320"/>
            <a:ext cx="5486400" cy="150876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4956048"/>
            <a:ext cx="5120640" cy="1325880"/>
          </a:xfrm>
          <a:prstGeom prst="rect">
            <a:avLst/>
          </a:prstGeom>
          <a:noFill/>
        </p:spPr>
        <p:txBody>
          <a:bodyPr wrap="square" anchor="t" lIns="0" rIns="0" tIns="0" bIns="0">
            <a:spAutoFit/>
          </a:bodyPr>
          <a:lstStyle/>
          <a:p>
            <a:pPr algn="l">
              <a:lnSpc>
                <a:spcPct val="108000"/>
              </a:lnSpc>
              <a:spcAft>
                <a:spcPts val="300"/>
              </a:spcAft>
            </a:pPr>
            <a:r>
              <a:rPr sz="1300" b="1" i="0">
                <a:solidFill>
                  <a:srgbClr val="2C5F2D"/>
                </a:solidFill>
                <a:latin typeface="Calibri"/>
              </a:rPr>
              <a:t>Sensitivity of the walking limit (N1, γ = 2)</a:t>
            </a:r>
          </a:p>
          <a:p>
            <a:pPr algn="l">
              <a:lnSpc>
                <a:spcPct val="108000"/>
              </a:lnSpc>
              <a:spcAft>
                <a:spcPts val="300"/>
              </a:spcAft>
            </a:pPr>
            <a:r>
              <a:rPr sz="1300" b="1" i="0">
                <a:solidFill>
                  <a:srgbClr val="1F2933"/>
                </a:solidFill>
                <a:latin typeface="Calibri"/>
              </a:rPr>
              <a:t> 5 min (400 m):  </a:t>
            </a:r>
            <a:r>
              <a:rPr sz="1300" b="0" i="0">
                <a:solidFill>
                  <a:srgbClr val="1F2933"/>
                </a:solidFill>
                <a:latin typeface="Calibri"/>
              </a:rPr>
              <a:t>366 groups · 1,013 parks grouped · largest 11</a:t>
            </a:r>
          </a:p>
          <a:p>
            <a:pPr algn="l">
              <a:lnSpc>
                <a:spcPct val="108000"/>
              </a:lnSpc>
              <a:spcAft>
                <a:spcPts val="300"/>
              </a:spcAft>
            </a:pPr>
            <a:r>
              <a:rPr sz="1300" b="1" i="0">
                <a:solidFill>
                  <a:srgbClr val="1F2933"/>
                </a:solidFill>
                <a:latin typeface="Calibri"/>
              </a:rPr>
              <a:t>10 min (800 m):  </a:t>
            </a:r>
            <a:r>
              <a:rPr sz="1300" b="0" i="0">
                <a:solidFill>
                  <a:srgbClr val="1F2933"/>
                </a:solidFill>
                <a:latin typeface="Calibri"/>
              </a:rPr>
              <a:t>340 groups · 1,178 parks grouped · largest 15</a:t>
            </a:r>
          </a:p>
          <a:p>
            <a:pPr algn="l">
              <a:lnSpc>
                <a:spcPct val="108000"/>
              </a:lnSpc>
              <a:spcAft>
                <a:spcPts val="300"/>
              </a:spcAft>
            </a:pPr>
            <a:r>
              <a:rPr sz="1300" b="1" i="0">
                <a:solidFill>
                  <a:srgbClr val="1F2933"/>
                </a:solidFill>
                <a:latin typeface="Calibri"/>
              </a:rPr>
              <a:t>15 min (1200 m):  </a:t>
            </a:r>
            <a:r>
              <a:rPr sz="1300" b="0" i="0">
                <a:solidFill>
                  <a:srgbClr val="1F2933"/>
                </a:solidFill>
                <a:latin typeface="Calibri"/>
              </a:rPr>
              <a:t>293 groups · 1,195 parks grouped · largest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Is it just proximity?</a:t>
            </a:r>
          </a:p>
        </p:txBody>
      </p:sp>
      <p:sp>
        <p:nvSpPr>
          <p:cNvPr id="3" name="TextBox 2"/>
          <p:cNvSpPr txBox="1"/>
          <p:nvPr/>
        </p:nvSpPr>
        <p:spPr>
          <a:xfrm>
            <a:off x="548640" y="987552"/>
            <a:ext cx="11064240" cy="411480"/>
          </a:xfrm>
          <a:prstGeom prst="rect">
            <a:avLst/>
          </a:prstGeom>
          <a:noFill/>
        </p:spPr>
        <p:txBody>
          <a:bodyPr wrap="square" anchor="t" lIns="0" rIns="0" tIns="0" bIns="0">
            <a:spAutoFit/>
          </a:bodyPr>
          <a:lstStyle/>
          <a:p>
            <a:pPr algn="l">
              <a:lnSpc>
                <a:spcPct val="108000"/>
              </a:lnSpc>
              <a:spcAft>
                <a:spcPts val="600"/>
              </a:spcAft>
            </a:pPr>
            <a:r>
              <a:rPr sz="1500" b="0" i="0">
                <a:solidFill>
                  <a:srgbClr val="5F6B73"/>
                </a:solidFill>
                <a:latin typeface="Calibri"/>
              </a:rPr>
              <a:t>Can network distance alone predict the configurational edges?</a:t>
            </a:r>
          </a:p>
        </p:txBody>
      </p:sp>
      <p:graphicFrame>
        <p:nvGraphicFramePr>
          <p:cNvPr id="4" name="Chart 3"/>
          <p:cNvGraphicFramePr>
            <a:graphicFrameLocks noGrp="1"/>
          </p:cNvGraphicFramePr>
          <p:nvPr/>
        </p:nvGraphicFramePr>
        <p:xfrm>
          <a:off x="457200" y="1463040"/>
          <a:ext cx="6766560" cy="4572000"/>
        </p:xfrm>
        <a:graphic>
          <a:graphicData uri="http://schemas.openxmlformats.org/drawingml/2006/chart">
            <c:chart xmlns:c="http://schemas.openxmlformats.org/drawingml/2006/chart" r:id="rId2"/>
          </a:graphicData>
        </a:graphic>
      </p:graphicFrame>
      <p:sp>
        <p:nvSpPr>
          <p:cNvPr id="5" name="Rounded Rectangle 4"/>
          <p:cNvSpPr/>
          <p:nvPr/>
        </p:nvSpPr>
        <p:spPr>
          <a:xfrm>
            <a:off x="7589520" y="1463040"/>
            <a:ext cx="4023360" cy="3291840"/>
          </a:xfrm>
          <a:prstGeom prst="roundRect">
            <a:avLst>
              <a:gd name="adj" fmla="val 6000"/>
            </a:avLst>
          </a:prstGeom>
          <a:solidFill>
            <a:srgbClr val="EE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8120" y="1645920"/>
            <a:ext cx="3611880" cy="3017520"/>
          </a:xfrm>
          <a:prstGeom prst="rect">
            <a:avLst/>
          </a:prstGeom>
          <a:noFill/>
        </p:spPr>
        <p:txBody>
          <a:bodyPr wrap="square" anchor="t" lIns="0" rIns="0" tIns="0" bIns="0">
            <a:spAutoFit/>
          </a:bodyPr>
          <a:lstStyle/>
          <a:p>
            <a:pPr algn="l">
              <a:lnSpc>
                <a:spcPct val="108000"/>
              </a:lnSpc>
              <a:spcAft>
                <a:spcPts val="1000"/>
              </a:spcAft>
            </a:pPr>
            <a:r>
              <a:rPr sz="1350" b="1" i="0">
                <a:solidFill>
                  <a:srgbClr val="1F2933"/>
                </a:solidFill>
                <a:latin typeface="Calibri"/>
              </a:rPr>
              <a:t>Proximity AUC: </a:t>
            </a:r>
            <a:r>
              <a:rPr sz="1350" b="0" i="0">
                <a:solidFill>
                  <a:srgbClr val="1F2933"/>
                </a:solidFill>
                <a:latin typeface="Calibri"/>
              </a:rPr>
              <a:t>probability that a connected pair is closer than an unconnected one; </a:t>
            </a:r>
            <a:r>
              <a:rPr sz="1350" b="1" i="0">
                <a:solidFill>
                  <a:srgbClr val="C0392B"/>
                </a:solidFill>
                <a:latin typeface="Calibri"/>
              </a:rPr>
              <a:t>&gt; 0.85 = proximity-dominated.</a:t>
            </a:r>
          </a:p>
          <a:p>
            <a:pPr algn="l">
              <a:lnSpc>
                <a:spcPct val="108000"/>
              </a:lnSpc>
              <a:spcAft>
                <a:spcPts val="1000"/>
              </a:spcAft>
            </a:pPr>
            <a:r>
              <a:rPr sz="1350" b="1" i="0">
                <a:solidFill>
                  <a:srgbClr val="2C5F2D"/>
                </a:solidFill>
                <a:latin typeface="Calibri"/>
              </a:rPr>
              <a:t>No definition crosses 0.85 </a:t>
            </a:r>
            <a:r>
              <a:rPr sz="1350" b="0" i="0">
                <a:solidFill>
                  <a:srgbClr val="1F2933"/>
                </a:solidFill>
                <a:latin typeface="Calibri"/>
              </a:rPr>
              <a:t>once distance is held to its search bound.</a:t>
            </a:r>
          </a:p>
          <a:p>
            <a:pPr algn="l">
              <a:lnSpc>
                <a:spcPct val="108000"/>
              </a:lnSpc>
              <a:spcAft>
                <a:spcPts val="1000"/>
              </a:spcAft>
            </a:pPr>
            <a:r>
              <a:rPr sz="1350" b="0" i="0">
                <a:solidFill>
                  <a:srgbClr val="1F2933"/>
                </a:solidFill>
                <a:latin typeface="Calibri"/>
              </a:rPr>
              <a:t>Edge overlap with a distance-only graph of equal density: </a:t>
            </a:r>
            <a:r>
              <a:rPr sz="1350" b="1" i="0">
                <a:solidFill>
                  <a:srgbClr val="1F2933"/>
                </a:solidFill>
                <a:latin typeface="Calibri"/>
              </a:rPr>
              <a:t>N1 0.27, N2 0.03, N3 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1F2933"/>
                </a:solidFill>
                <a:latin typeface="Cambria"/>
              </a:rPr>
              <a:t>Across definitions: who is grouped, who is isolated?</a:t>
            </a:r>
          </a:p>
        </p:txBody>
      </p:sp>
      <p:pic>
        <p:nvPicPr>
          <p:cNvPr id="3" name="Picture 2" descr="cross_status.png"/>
          <p:cNvPicPr>
            <a:picLocks noChangeAspect="1"/>
          </p:cNvPicPr>
          <p:nvPr/>
        </p:nvPicPr>
        <p:blipFill>
          <a:blip r:embed="rId2"/>
          <a:stretch>
            <a:fillRect/>
          </a:stretch>
        </p:blipFill>
        <p:spPr>
          <a:xfrm>
            <a:off x="365760" y="1493414"/>
            <a:ext cx="4572000" cy="4785571"/>
          </a:xfrm>
          <a:prstGeom prst="rect">
            <a:avLst/>
          </a:prstGeom>
        </p:spPr>
      </p:pic>
      <p:graphicFrame>
        <p:nvGraphicFramePr>
          <p:cNvPr id="4" name="Chart 3"/>
          <p:cNvGraphicFramePr>
            <a:graphicFrameLocks noGrp="1"/>
          </p:cNvGraphicFramePr>
          <p:nvPr/>
        </p:nvGraphicFramePr>
        <p:xfrm>
          <a:off x="5303520" y="1234440"/>
          <a:ext cx="6309360" cy="3108960"/>
        </p:xfrm>
        <a:graphic>
          <a:graphicData uri="http://schemas.openxmlformats.org/drawingml/2006/chart">
            <c:chart xmlns:c="http://schemas.openxmlformats.org/drawingml/2006/chart" r:id="rId3"/>
          </a:graphicData>
        </a:graphic>
      </p:graphicFrame>
      <p:sp>
        <p:nvSpPr>
          <p:cNvPr id="5" name="TextBox 4"/>
          <p:cNvSpPr txBox="1"/>
          <p:nvPr/>
        </p:nvSpPr>
        <p:spPr>
          <a:xfrm>
            <a:off x="5303520" y="4572000"/>
            <a:ext cx="6309360" cy="1828800"/>
          </a:xfrm>
          <a:prstGeom prst="rect">
            <a:avLst/>
          </a:prstGeom>
          <a:noFill/>
        </p:spPr>
        <p:txBody>
          <a:bodyPr wrap="square" anchor="t" lIns="0" rIns="0" tIns="0" bIns="0">
            <a:spAutoFit/>
          </a:bodyPr>
          <a:lstStyle/>
          <a:p>
            <a:pPr algn="l" marL="228600" indent="-228600">
              <a:lnSpc>
                <a:spcPct val="108000"/>
              </a:lnSpc>
              <a:spcAft>
                <a:spcPts val="800"/>
              </a:spcAft>
              <a:buFont typeface="Arial"/>
              <a:buChar char="•"/>
            </a:pPr>
            <a:r>
              <a:rPr sz="1400" b="0" i="0">
                <a:solidFill>
                  <a:srgbClr val="1F2933"/>
                </a:solidFill>
                <a:latin typeface="Calibri"/>
              </a:rPr>
              <a:t>The three definitions capture different structure: group agreement between them is near zero (ARI ≈ 0).</a:t>
            </a:r>
          </a:p>
          <a:p>
            <a:pPr algn="l" marL="228600" indent="-228600">
              <a:lnSpc>
                <a:spcPct val="108000"/>
              </a:lnSpc>
              <a:spcAft>
                <a:spcPts val="800"/>
              </a:spcAft>
              <a:buFont typeface="Arial"/>
              <a:buChar char="•"/>
            </a:pPr>
            <a:r>
              <a:rPr sz="1400" b="0" i="0">
                <a:solidFill>
                  <a:srgbClr val="1F2933"/>
                </a:solidFill>
                <a:latin typeface="Calibri"/>
              </a:rPr>
              <a:t>Only 4 parks are grouped under all three; isolation concentrates in Staten Island and Queens (curvilinear, low-connectivity street patterns) and on expressway-side parkways.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E25"/>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tIns="0" bIns="0">
            <a:spAutoFit/>
          </a:bodyPr>
          <a:lstStyle/>
          <a:p>
            <a:pPr algn="l">
              <a:lnSpc>
                <a:spcPct val="108000"/>
              </a:lnSpc>
              <a:spcAft>
                <a:spcPts val="600"/>
              </a:spcAft>
            </a:pPr>
            <a:r>
              <a:rPr sz="3000" b="1" i="0">
                <a:solidFill>
                  <a:srgbClr val="FFFFFF"/>
                </a:solidFill>
                <a:latin typeface="Cambria"/>
              </a:rPr>
              <a:t>Takeaways &amp; limitations</a:t>
            </a:r>
          </a:p>
        </p:txBody>
      </p:sp>
      <p:sp>
        <p:nvSpPr>
          <p:cNvPr id="3" name="Rounded Rectangle 2"/>
          <p:cNvSpPr/>
          <p:nvPr/>
        </p:nvSpPr>
        <p:spPr>
          <a:xfrm>
            <a:off x="548640" y="1417320"/>
            <a:ext cx="3520440" cy="1691640"/>
          </a:xfrm>
          <a:prstGeom prst="roundRect">
            <a:avLst>
              <a:gd name="adj" fmla="val 6000"/>
            </a:avLst>
          </a:prstGeom>
          <a:solidFill>
            <a:srgbClr val="243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3108960" cy="1463040"/>
          </a:xfrm>
          <a:prstGeom prst="rect">
            <a:avLst/>
          </a:prstGeom>
          <a:noFill/>
        </p:spPr>
        <p:txBody>
          <a:bodyPr wrap="square" anchor="t" lIns="0" rIns="0" tIns="0" bIns="0">
            <a:spAutoFit/>
          </a:bodyPr>
          <a:lstStyle/>
          <a:p>
            <a:pPr algn="l">
              <a:lnSpc>
                <a:spcPct val="108000"/>
              </a:lnSpc>
              <a:spcAft>
                <a:spcPts val="600"/>
              </a:spcAft>
            </a:pPr>
            <a:r>
              <a:rPr sz="1700" b="1" i="0">
                <a:solidFill>
                  <a:srgbClr val="FFFFFF"/>
                </a:solidFill>
                <a:latin typeface="Calibri"/>
              </a:rPr>
              <a:t>N1 is the core result</a:t>
            </a:r>
          </a:p>
          <a:p>
            <a:pPr algn="l">
              <a:lnSpc>
                <a:spcPct val="108000"/>
              </a:lnSpc>
              <a:spcAft>
                <a:spcPts val="600"/>
              </a:spcAft>
            </a:pPr>
            <a:r>
              <a:rPr sz="1450" b="0" i="0">
                <a:solidFill>
                  <a:srgbClr val="D6E2D0"/>
                </a:solidFill>
                <a:latin typeface="Calibri"/>
              </a:rPr>
              <a:t>340 walkable few-turn groups (γ = 2), every pair within a 10-min walk; 132 parks robustly isolated.</a:t>
            </a:r>
          </a:p>
        </p:txBody>
      </p:sp>
      <p:sp>
        <p:nvSpPr>
          <p:cNvPr id="5" name="Rounded Rectangle 4"/>
          <p:cNvSpPr/>
          <p:nvPr/>
        </p:nvSpPr>
        <p:spPr>
          <a:xfrm>
            <a:off x="4315968" y="1417320"/>
            <a:ext cx="3520440" cy="1691640"/>
          </a:xfrm>
          <a:prstGeom prst="roundRect">
            <a:avLst>
              <a:gd name="adj" fmla="val 6000"/>
            </a:avLst>
          </a:prstGeom>
          <a:solidFill>
            <a:srgbClr val="243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44568" y="1572768"/>
            <a:ext cx="3108960" cy="1463040"/>
          </a:xfrm>
          <a:prstGeom prst="rect">
            <a:avLst/>
          </a:prstGeom>
          <a:noFill/>
        </p:spPr>
        <p:txBody>
          <a:bodyPr wrap="square" anchor="t" lIns="0" rIns="0" tIns="0" bIns="0">
            <a:spAutoFit/>
          </a:bodyPr>
          <a:lstStyle/>
          <a:p>
            <a:pPr algn="l">
              <a:lnSpc>
                <a:spcPct val="108000"/>
              </a:lnSpc>
              <a:spcAft>
                <a:spcPts val="600"/>
              </a:spcAft>
            </a:pPr>
            <a:r>
              <a:rPr sz="1700" b="1" i="0">
                <a:solidFill>
                  <a:srgbClr val="FFFFFF"/>
                </a:solidFill>
                <a:latin typeface="Calibri"/>
              </a:rPr>
              <a:t>Configuration ≠ proximity</a:t>
            </a:r>
          </a:p>
          <a:p>
            <a:pPr algn="l">
              <a:lnSpc>
                <a:spcPct val="108000"/>
              </a:lnSpc>
              <a:spcAft>
                <a:spcPts val="600"/>
              </a:spcAft>
            </a:pPr>
            <a:r>
              <a:rPr sz="1450" b="0" i="0">
                <a:solidFill>
                  <a:srgbClr val="D6E2D0"/>
                </a:solidFill>
                <a:latin typeface="Calibri"/>
              </a:rPr>
              <a:t>Within its search bound, distance does not dominate any definition (AUC &lt; 0.85).</a:t>
            </a:r>
          </a:p>
        </p:txBody>
      </p:sp>
      <p:sp>
        <p:nvSpPr>
          <p:cNvPr id="7" name="Rounded Rectangle 6"/>
          <p:cNvSpPr/>
          <p:nvPr/>
        </p:nvSpPr>
        <p:spPr>
          <a:xfrm>
            <a:off x="8083296" y="1417320"/>
            <a:ext cx="3520440" cy="1691640"/>
          </a:xfrm>
          <a:prstGeom prst="roundRect">
            <a:avLst>
              <a:gd name="adj" fmla="val 6000"/>
            </a:avLst>
          </a:prstGeom>
          <a:solidFill>
            <a:srgbClr val="243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11896" y="1572768"/>
            <a:ext cx="3108960" cy="1463040"/>
          </a:xfrm>
          <a:prstGeom prst="rect">
            <a:avLst/>
          </a:prstGeom>
          <a:noFill/>
        </p:spPr>
        <p:txBody>
          <a:bodyPr wrap="square" anchor="t" lIns="0" rIns="0" tIns="0" bIns="0">
            <a:spAutoFit/>
          </a:bodyPr>
          <a:lstStyle/>
          <a:p>
            <a:pPr algn="l">
              <a:lnSpc>
                <a:spcPct val="108000"/>
              </a:lnSpc>
              <a:spcAft>
                <a:spcPts val="600"/>
              </a:spcAft>
            </a:pPr>
            <a:r>
              <a:rPr sz="1700" b="1" i="0">
                <a:solidFill>
                  <a:srgbClr val="FFFFFF"/>
                </a:solidFill>
                <a:latin typeface="Calibri"/>
              </a:rPr>
              <a:t>Definitions differ</a:t>
            </a:r>
          </a:p>
          <a:p>
            <a:pPr algn="l">
              <a:lnSpc>
                <a:spcPct val="108000"/>
              </a:lnSpc>
              <a:spcAft>
                <a:spcPts val="600"/>
              </a:spcAft>
            </a:pPr>
            <a:r>
              <a:rPr sz="1450" b="0" i="0">
                <a:solidFill>
                  <a:srgbClr val="D6E2D0"/>
                </a:solidFill>
                <a:latin typeface="Calibri"/>
              </a:rPr>
              <a:t>N2 finds corridor chains, N3 is weak; groups barely overlap across definitions.</a:t>
            </a:r>
          </a:p>
        </p:txBody>
      </p:sp>
      <p:sp>
        <p:nvSpPr>
          <p:cNvPr id="9" name="TextBox 8"/>
          <p:cNvSpPr txBox="1"/>
          <p:nvPr/>
        </p:nvSpPr>
        <p:spPr>
          <a:xfrm>
            <a:off x="548640" y="3520440"/>
            <a:ext cx="11064240" cy="2926080"/>
          </a:xfrm>
          <a:prstGeom prst="rect">
            <a:avLst/>
          </a:prstGeom>
          <a:noFill/>
        </p:spPr>
        <p:txBody>
          <a:bodyPr wrap="square" anchor="t" lIns="0" rIns="0" tIns="0" bIns="0">
            <a:spAutoFit/>
          </a:bodyPr>
          <a:lstStyle/>
          <a:p>
            <a:pPr algn="l" marL="228600" indent="-228600">
              <a:lnSpc>
                <a:spcPct val="108000"/>
              </a:lnSpc>
              <a:spcAft>
                <a:spcPts val="1200"/>
              </a:spcAft>
              <a:buFont typeface="Arial"/>
              <a:buChar char="•"/>
            </a:pPr>
            <a:r>
              <a:rPr sz="1600" b="0" i="0">
                <a:solidFill>
                  <a:srgbClr val="D6E2D0"/>
                </a:solidFill>
                <a:latin typeface="Calibri"/>
              </a:rPr>
              <a:t>Percolation: allowing one turn connects almost all parks in a borough — groups rely on strict settings and community detection</a:t>
            </a:r>
          </a:p>
          <a:p>
            <a:pPr algn="l" marL="228600" indent="-228600">
              <a:lnSpc>
                <a:spcPct val="108000"/>
              </a:lnSpc>
              <a:spcAft>
                <a:spcPts val="1200"/>
              </a:spcAft>
              <a:buFont typeface="Arial"/>
              <a:buChar char="•"/>
            </a:pPr>
            <a:r>
              <a:rPr sz="1600" b="0" i="0">
                <a:solidFill>
                  <a:srgbClr val="D6E2D0"/>
                </a:solidFill>
                <a:latin typeface="Calibri"/>
              </a:rPr>
              <a:t>Turn costs include bends inside segments (one turn ≈ 90–100°), so θ = 90° is a strict one-turn threshold; θ ≈ 100–110° is worth testing</a:t>
            </a:r>
          </a:p>
          <a:p>
            <a:pPr algn="l" marL="228600" indent="-228600">
              <a:lnSpc>
                <a:spcPct val="108000"/>
              </a:lnSpc>
              <a:spcAft>
                <a:spcPts val="1200"/>
              </a:spcAft>
              <a:buFont typeface="Arial"/>
              <a:buChar char="•"/>
            </a:pPr>
            <a:r>
              <a:rPr sz="1600" b="0" i="0">
                <a:solidFill>
                  <a:srgbClr val="D6E2D0"/>
                </a:solidFill>
                <a:latin typeface="Calibri"/>
              </a:rPr>
              <a:t>OSM completeness and mapping regime (separately drawn sidewalks) affect angular costs; S results differ from C</a:t>
            </a:r>
          </a:p>
          <a:p>
            <a:pPr algn="l" marL="228600" indent="-228600">
              <a:lnSpc>
                <a:spcPct val="108000"/>
              </a:lnSpc>
              <a:spcAft>
                <a:spcPts val="1200"/>
              </a:spcAft>
              <a:buFont typeface="Arial"/>
              <a:buChar char="•"/>
            </a:pPr>
            <a:r>
              <a:rPr sz="1600" b="0" i="0">
                <a:solidFill>
                  <a:srgbClr val="D6E2D0"/>
                </a:solidFill>
                <a:latin typeface="Calibri"/>
              </a:rPr>
              <a:t>N2 computed on C only; large linear parks are split into ~400 m pieces; park entrances unknown (boundary attachment)</a:t>
            </a:r>
          </a:p>
          <a:p>
            <a:pPr algn="l" marL="228600" indent="-228600">
              <a:lnSpc>
                <a:spcPct val="108000"/>
              </a:lnSpc>
              <a:spcAft>
                <a:spcPts val="1200"/>
              </a:spcAft>
              <a:buFont typeface="Arial"/>
              <a:buChar char="•"/>
            </a:pPr>
            <a:r>
              <a:rPr sz="1600" b="0" i="0">
                <a:solidFill>
                  <a:srgbClr val="D6E2D0"/>
                </a:solidFill>
                <a:latin typeface="Calibri"/>
              </a:rPr>
              <a:t>Next: validate groups with observed park use / pedestrian counts; test alternative group resolutions per borough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